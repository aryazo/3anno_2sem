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sldIdLst>
    <p:sldId id="337" r:id="rId6"/>
    <p:sldId id="259" r:id="rId7"/>
    <p:sldId id="257" r:id="rId8"/>
    <p:sldId id="260" r:id="rId9"/>
    <p:sldId id="338" r:id="rId10"/>
    <p:sldId id="258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0" r:id="rId20"/>
    <p:sldId id="269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4516E6-5BB1-E53D-7D43-0FE6D69A16C1}" v="1" dt="2024-09-05T18:11:47.9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DERICO STORTI" userId="S::308796@unimore.it::8337afe8-ca29-4787-b676-052761917b8f" providerId="AD" clId="Web-{AAFC349D-0253-497D-928B-7333DD8C0AAE}"/>
    <pc:docChg chg="modSld">
      <pc:chgData name="FEDERICO STORTI" userId="S::308796@unimore.it::8337afe8-ca29-4787-b676-052761917b8f" providerId="AD" clId="Web-{AAFC349D-0253-497D-928B-7333DD8C0AAE}" dt="2024-05-19T17:37:06.112" v="4" actId="1076"/>
      <pc:docMkLst>
        <pc:docMk/>
      </pc:docMkLst>
      <pc:sldChg chg="modSp">
        <pc:chgData name="FEDERICO STORTI" userId="S::308796@unimore.it::8337afe8-ca29-4787-b676-052761917b8f" providerId="AD" clId="Web-{AAFC349D-0253-497D-928B-7333DD8C0AAE}" dt="2024-05-19T17:21:33.234" v="3"/>
        <pc:sldMkLst>
          <pc:docMk/>
          <pc:sldMk cId="1028543277" sldId="268"/>
        </pc:sldMkLst>
        <pc:graphicFrameChg chg="modGraphic">
          <ac:chgData name="FEDERICO STORTI" userId="S::308796@unimore.it::8337afe8-ca29-4787-b676-052761917b8f" providerId="AD" clId="Web-{AAFC349D-0253-497D-928B-7333DD8C0AAE}" dt="2024-05-19T17:21:33.234" v="3"/>
          <ac:graphicFrameMkLst>
            <pc:docMk/>
            <pc:sldMk cId="1028543277" sldId="268"/>
            <ac:graphicFrameMk id="5" creationId="{0EA049D5-891B-4234-AEC7-FDB67E584F86}"/>
          </ac:graphicFrameMkLst>
        </pc:graphicFrameChg>
      </pc:sldChg>
      <pc:sldChg chg="modSp">
        <pc:chgData name="FEDERICO STORTI" userId="S::308796@unimore.it::8337afe8-ca29-4787-b676-052761917b8f" providerId="AD" clId="Web-{AAFC349D-0253-497D-928B-7333DD8C0AAE}" dt="2024-05-19T17:37:06.112" v="4" actId="1076"/>
        <pc:sldMkLst>
          <pc:docMk/>
          <pc:sldMk cId="2820204701" sldId="274"/>
        </pc:sldMkLst>
        <pc:spChg chg="mod">
          <ac:chgData name="FEDERICO STORTI" userId="S::308796@unimore.it::8337afe8-ca29-4787-b676-052761917b8f" providerId="AD" clId="Web-{AAFC349D-0253-497D-928B-7333DD8C0AAE}" dt="2024-05-19T17:37:06.112" v="4" actId="1076"/>
          <ac:spMkLst>
            <pc:docMk/>
            <pc:sldMk cId="2820204701" sldId="274"/>
            <ac:spMk id="4" creationId="{0FB78090-BF20-47ED-82CC-CBB5CC0DF7B0}"/>
          </ac:spMkLst>
        </pc:spChg>
      </pc:sldChg>
    </pc:docChg>
  </pc:docChgLst>
  <pc:docChgLst>
    <pc:chgData name="NICOLA RADAELLI" userId="S::343081@unimore.it::f72dd68c-a2d1-48c8-bd2e-dd9e776bc27f" providerId="AD" clId="Web-{8C4516E6-5BB1-E53D-7D43-0FE6D69A16C1}"/>
    <pc:docChg chg="modSld">
      <pc:chgData name="NICOLA RADAELLI" userId="S::343081@unimore.it::f72dd68c-a2d1-48c8-bd2e-dd9e776bc27f" providerId="AD" clId="Web-{8C4516E6-5BB1-E53D-7D43-0FE6D69A16C1}" dt="2024-09-05T18:11:47.930" v="0" actId="1076"/>
      <pc:docMkLst>
        <pc:docMk/>
      </pc:docMkLst>
      <pc:sldChg chg="modSp">
        <pc:chgData name="NICOLA RADAELLI" userId="S::343081@unimore.it::f72dd68c-a2d1-48c8-bd2e-dd9e776bc27f" providerId="AD" clId="Web-{8C4516E6-5BB1-E53D-7D43-0FE6D69A16C1}" dt="2024-09-05T18:11:47.930" v="0" actId="1076"/>
        <pc:sldMkLst>
          <pc:docMk/>
          <pc:sldMk cId="2820204701" sldId="274"/>
        </pc:sldMkLst>
        <pc:spChg chg="mod">
          <ac:chgData name="NICOLA RADAELLI" userId="S::343081@unimore.it::f72dd68c-a2d1-48c8-bd2e-dd9e776bc27f" providerId="AD" clId="Web-{8C4516E6-5BB1-E53D-7D43-0FE6D69A16C1}" dt="2024-09-05T18:11:47.930" v="0" actId="1076"/>
          <ac:spMkLst>
            <pc:docMk/>
            <pc:sldMk cId="2820204701" sldId="274"/>
            <ac:spMk id="4" creationId="{0FB78090-BF20-47ED-82CC-CBB5CC0DF7B0}"/>
          </ac:spMkLst>
        </pc:spChg>
      </pc:sldChg>
    </pc:docChg>
  </pc:docChgLst>
  <pc:docChgLst>
    <pc:chgData name="ANDREA PIO D'AMBROSIO" userId="S::305379@unimore.it::54d81441-1df6-4811-8348-9bd87662309b" providerId="AD" clId="Web-{B9F0AA01-7CB2-159D-BCBF-3065C4F28208}"/>
    <pc:docChg chg="modSld">
      <pc:chgData name="ANDREA PIO D'AMBROSIO" userId="S::305379@unimore.it::54d81441-1df6-4811-8348-9bd87662309b" providerId="AD" clId="Web-{B9F0AA01-7CB2-159D-BCBF-3065C4F28208}" dt="2024-06-14T16:51:05.190" v="0" actId="1076"/>
      <pc:docMkLst>
        <pc:docMk/>
      </pc:docMkLst>
      <pc:sldChg chg="modSp">
        <pc:chgData name="ANDREA PIO D'AMBROSIO" userId="S::305379@unimore.it::54d81441-1df6-4811-8348-9bd87662309b" providerId="AD" clId="Web-{B9F0AA01-7CB2-159D-BCBF-3065C4F28208}" dt="2024-06-14T16:51:05.190" v="0" actId="1076"/>
        <pc:sldMkLst>
          <pc:docMk/>
          <pc:sldMk cId="2827302807" sldId="258"/>
        </pc:sldMkLst>
        <pc:spChg chg="mod">
          <ac:chgData name="ANDREA PIO D'AMBROSIO" userId="S::305379@unimore.it::54d81441-1df6-4811-8348-9bd87662309b" providerId="AD" clId="Web-{B9F0AA01-7CB2-159D-BCBF-3065C4F28208}" dt="2024-06-14T16:51:05.190" v="0" actId="1076"/>
          <ac:spMkLst>
            <pc:docMk/>
            <pc:sldMk cId="2827302807" sldId="258"/>
            <ac:spMk id="4" creationId="{0FB78090-BF20-47ED-82CC-CBB5CC0DF7B0}"/>
          </ac:spMkLst>
        </pc:spChg>
      </pc:sldChg>
    </pc:docChg>
  </pc:docChgLst>
  <pc:docChgLst>
    <pc:chgData name="FEDERICO STORTI" userId="S::308796@unimore.it::8337afe8-ca29-4787-b676-052761917b8f" providerId="AD" clId="Web-{DD2D56DB-0A23-41ED-B694-E6169297C045}"/>
    <pc:docChg chg="modSld">
      <pc:chgData name="FEDERICO STORTI" userId="S::308796@unimore.it::8337afe8-ca29-4787-b676-052761917b8f" providerId="AD" clId="Web-{DD2D56DB-0A23-41ED-B694-E6169297C045}" dt="2024-05-19T17:20:12.585" v="10"/>
      <pc:docMkLst>
        <pc:docMk/>
      </pc:docMkLst>
      <pc:sldChg chg="modSp">
        <pc:chgData name="FEDERICO STORTI" userId="S::308796@unimore.it::8337afe8-ca29-4787-b676-052761917b8f" providerId="AD" clId="Web-{DD2D56DB-0A23-41ED-B694-E6169297C045}" dt="2024-05-19T17:20:12.585" v="10"/>
        <pc:sldMkLst>
          <pc:docMk/>
          <pc:sldMk cId="1028543277" sldId="268"/>
        </pc:sldMkLst>
        <pc:graphicFrameChg chg="mod modGraphic">
          <ac:chgData name="FEDERICO STORTI" userId="S::308796@unimore.it::8337afe8-ca29-4787-b676-052761917b8f" providerId="AD" clId="Web-{DD2D56DB-0A23-41ED-B694-E6169297C045}" dt="2024-05-19T17:20:12.585" v="10"/>
          <ac:graphicFrameMkLst>
            <pc:docMk/>
            <pc:sldMk cId="1028543277" sldId="268"/>
            <ac:graphicFrameMk id="5" creationId="{0EA049D5-891B-4234-AEC7-FDB67E584F86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7B71E7-1163-45AB-BB57-C20042909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CEF1FCE-8874-42E3-B2BD-863B7DF8D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1FAC08-7AE4-42C3-81A8-5991C4110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A022F-5430-4CDB-B589-14E1FB7420EF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F09D871-19B6-4B3F-8CAF-05A693E1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0AD47E1-FC1E-4662-9E6B-341D65B96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CFE0-6F72-4CA6-97B9-C41BF5F888C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54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8F32C9-FF1F-48B6-B658-108603F7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B285F1-6330-4A26-AB01-CEF0F3281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41B0899-59DA-4E93-BA7F-637926D59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A022F-5430-4CDB-B589-14E1FB7420EF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81E20AC-5D75-4439-8393-2AB7E7E3A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CC812CD-1756-4CB8-A6C8-E39D04133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CFE0-6F72-4CA6-97B9-C41BF5F888C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25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AFBC7A-5B1E-41CA-A542-A71B173FF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02E3F7C-93BB-4E83-AF3B-BC21E8DF1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42E7B3-5468-4E40-AFB8-BCC8E8AB2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A022F-5430-4CDB-B589-14E1FB7420EF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CBABB9-7D53-4888-9DE4-F89BE4541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D3108D5-7260-4434-9320-02134A847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CFE0-6F72-4CA6-97B9-C41BF5F888C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3500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394456-04AA-422D-9F4C-6EDA55117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409B6C8-00DC-4580-B818-D73CF5B734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ACD43B5-D5F1-4358-B0D1-E477AAFB1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439065-725A-4FD1-BF97-E6E03139E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A022F-5430-4CDB-B589-14E1FB7420EF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CC1BD5D-E838-4CC1-9A24-3DB067DE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BD53F4B-74CF-4959-936C-37B9FAF8F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CFE0-6F72-4CA6-97B9-C41BF5F888C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3678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5FC12C-EEA2-4DE9-8B5B-9AEA28773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3B98615-FCC5-4355-B1B1-AEB421D2A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D9AE119-900B-4B23-8901-299E01ACB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1956280-F143-4F97-9249-D704551F0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C9BB260-3BA8-4138-A76E-3A9D48B20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E2DE6F7-CAC5-47E2-AEBC-956D581D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A022F-5430-4CDB-B589-14E1FB7420EF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0F5894F-CE37-4F9E-A930-D1E47EBCC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06F9DBE-0EA9-4759-8FC2-6695F1A42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CFE0-6F72-4CA6-97B9-C41BF5F888C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4175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4254DC-3C09-467B-A15F-62AFC1F23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C4BD3ED-7728-4508-8E5C-ECE25E321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A022F-5430-4CDB-B589-14E1FB7420EF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DFDEEBC-B682-48F8-BBBC-2CF5FA736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771BB9D-BD9E-4A73-B0AB-3EDB6CB1B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CFE0-6F72-4CA6-97B9-C41BF5F888C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63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B7C202F-DBD4-4653-B529-70FA3BFCB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A022F-5430-4CDB-B589-14E1FB7420EF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4FC4BE9-71BF-4E99-9CCC-2CC449F73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DE9DDE2-6CE5-4206-9F90-59CFB796B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CFE0-6F72-4CA6-97B9-C41BF5F888C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760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A02826-7D8E-439A-9FDA-848E2C082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4E49F2-694D-451A-8D2D-82314D80D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CEB330A-3968-4CC6-97F0-5497C9572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B180639-D9F1-4E8C-A78F-E69D59265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A022F-5430-4CDB-B589-14E1FB7420EF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DD89BC7-CA02-484A-BF96-486B0BCEB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3D549D2-1F29-42EB-A4DB-C1C79ECD1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CFE0-6F72-4CA6-97B9-C41BF5F888C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75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9E38BF-38F7-45C3-915C-CE8DFE17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F622A30-724D-4C3D-B806-3B18D2900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E6E57C0-9874-4A7B-BC7A-654847172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A1A2CD-4BB5-4604-A300-D44B4DC63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A022F-5430-4CDB-B589-14E1FB7420EF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BEA1E5B-E5FC-43E9-8EA1-6E955497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0FD1A83-6D9E-43B3-828F-3CF3C036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CFE0-6F72-4CA6-97B9-C41BF5F888C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536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3AFF60-6773-45F3-B121-BC3D76800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35EF2DB-BA2D-4468-9A2E-1877E71DB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E25A115-E290-4369-9AF0-CDD6869F7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A022F-5430-4CDB-B589-14E1FB7420EF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EB4537-73E2-43DC-A325-7A723BF0C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578C5E5-DF6F-4DB3-8096-DB366FDF0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CFE0-6F72-4CA6-97B9-C41BF5F888C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573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0B1BFB5-1F8B-4C68-9F6E-0F92A17FA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E553734-C67A-4A9C-A561-A18B8FCB0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7AB6FAF-E5C3-4121-8A1D-C1017BA9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A022F-5430-4CDB-B589-14E1FB7420EF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E7B4DC0-C650-4D20-AEC6-625BA16A0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982B1D-430D-4938-9DB9-7B7413946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CFE0-6F72-4CA6-97B9-C41BF5F888C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3426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/>
          <p:cNvSpPr/>
          <p:nvPr userDrawn="1"/>
        </p:nvSpPr>
        <p:spPr>
          <a:xfrm>
            <a:off x="632456" y="2493698"/>
            <a:ext cx="10975177" cy="4013942"/>
          </a:xfrm>
          <a:prstGeom prst="rect">
            <a:avLst/>
          </a:prstGeom>
          <a:solidFill>
            <a:srgbClr val="EB3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it-IT" sz="1800">
              <a:solidFill>
                <a:prstClr val="white"/>
              </a:solidFill>
            </a:endParaRPr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920000" y="2988000"/>
            <a:ext cx="8534400" cy="108000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4480"/>
              </a:lnSpc>
              <a:defRPr sz="4400" b="1" i="0">
                <a:solidFill>
                  <a:schemeClr val="bg1"/>
                </a:solidFill>
                <a:latin typeface="Helvetica Neue"/>
                <a:cs typeface="Helvetica Neue"/>
              </a:defRPr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920000" y="4392000"/>
            <a:ext cx="8534400" cy="6264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3120"/>
              </a:lnSpc>
              <a:buNone/>
              <a:defRPr sz="3000">
                <a:solidFill>
                  <a:srgbClr val="FFFFFF"/>
                </a:solidFill>
                <a:latin typeface="Helvetica Neue LT Std 55 Roman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pic>
        <p:nvPicPr>
          <p:cNvPr id="5" name="Immagin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135" y="176196"/>
            <a:ext cx="6593284" cy="32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570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u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20000" y="306000"/>
            <a:ext cx="9561600" cy="514800"/>
          </a:xfrm>
          <a:prstGeom prst="rect">
            <a:avLst/>
          </a:prstGeom>
        </p:spPr>
        <p:txBody>
          <a:bodyPr anchor="ctr" anchorCtr="0"/>
          <a:lstStyle>
            <a:lvl1pPr>
              <a:defRPr b="1" i="0">
                <a:latin typeface="Helvetica Neue"/>
                <a:cs typeface="Helvetica Neue"/>
              </a:defRPr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920000" y="2394000"/>
            <a:ext cx="8750400" cy="3391200"/>
          </a:xfrm>
          <a:prstGeom prst="rect">
            <a:avLst/>
          </a:prstGeom>
        </p:spPr>
        <p:txBody>
          <a:bodyPr numCol="2" spcCol="360000">
            <a:normAutofit/>
          </a:bodyPr>
          <a:lstStyle>
            <a:lvl1pPr marL="0" indent="0" algn="just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  <a:latin typeface="Helvetica Neue"/>
                <a:cs typeface="Helvetica Neue"/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026968" y="6306346"/>
            <a:ext cx="555432" cy="365125"/>
          </a:xfrm>
          <a:prstGeom prst="rect">
            <a:avLst/>
          </a:prstGeom>
        </p:spPr>
        <p:txBody>
          <a:bodyPr anchor="t" anchorCtr="0"/>
          <a:lstStyle>
            <a:lvl1pPr>
              <a:defRPr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pPr defTabSz="457200"/>
            <a:fld id="{E0F8B7D7-B5E3-644D-9856-CC0934E69055}" type="slidenum">
              <a:rPr lang="it-IT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457200"/>
              <a:t>‹N›</a:t>
            </a:fld>
            <a:endParaRPr lang="it-IT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000" y="842400"/>
            <a:ext cx="9561600" cy="3276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600" b="0" i="0">
                <a:solidFill>
                  <a:srgbClr val="595959"/>
                </a:solidFill>
                <a:latin typeface="Helvetica Neue Medium"/>
                <a:cs typeface="Helvetica Neue Medium"/>
              </a:defRPr>
            </a:lvl1pPr>
          </a:lstStyle>
          <a:p>
            <a:pPr lvl="0"/>
            <a:r>
              <a:rPr lang="it-IT"/>
              <a:t>Sottotitolo</a:t>
            </a:r>
          </a:p>
        </p:txBody>
      </p:sp>
      <p:pic>
        <p:nvPicPr>
          <p:cNvPr id="11" name="Immagine 10" descr="unimor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14" y="6339386"/>
            <a:ext cx="1247997" cy="175104"/>
          </a:xfrm>
          <a:prstGeom prst="rect">
            <a:avLst/>
          </a:prstGeom>
        </p:spPr>
      </p:pic>
      <p:sp>
        <p:nvSpPr>
          <p:cNvPr id="9" name="Segnaposto data 3"/>
          <p:cNvSpPr>
            <a:spLocks noGrp="1"/>
          </p:cNvSpPr>
          <p:nvPr>
            <p:ph type="dt" sz="half" idx="10"/>
          </p:nvPr>
        </p:nvSpPr>
        <p:spPr>
          <a:xfrm>
            <a:off x="1920001" y="6306346"/>
            <a:ext cx="1243860" cy="365125"/>
          </a:xfrm>
          <a:prstGeom prst="rect">
            <a:avLst/>
          </a:prstGeom>
        </p:spPr>
        <p:txBody>
          <a:bodyPr anchor="t" anchorCtr="0"/>
          <a:lstStyle>
            <a:lvl1pPr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pPr defTabSz="457200"/>
            <a:r>
              <a:rPr lang="it-IT">
                <a:solidFill>
                  <a:prstClr val="black">
                    <a:lumMod val="50000"/>
                    <a:lumOff val="50000"/>
                  </a:prstClr>
                </a:solidFill>
              </a:rPr>
              <a:t>gg/mm/aaaa</a:t>
            </a:r>
          </a:p>
        </p:txBody>
      </p:sp>
      <p:sp>
        <p:nvSpPr>
          <p:cNvPr id="10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425099" y="6306346"/>
            <a:ext cx="6900287" cy="365125"/>
          </a:xfrm>
          <a:prstGeom prst="rect">
            <a:avLst/>
          </a:prstGeom>
        </p:spPr>
        <p:txBody>
          <a:bodyPr anchor="t" anchorCtr="0"/>
          <a:lstStyle>
            <a:lvl1pPr algn="l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pPr defTabSz="457200"/>
            <a:r>
              <a:rPr lang="it-IT">
                <a:solidFill>
                  <a:prstClr val="black">
                    <a:lumMod val="50000"/>
                    <a:lumOff val="50000"/>
                  </a:prstClr>
                </a:solidFill>
              </a:rPr>
              <a:t>Nome insegnamento</a:t>
            </a:r>
          </a:p>
        </p:txBody>
      </p:sp>
    </p:spTree>
    <p:extLst>
      <p:ext uri="{BB962C8B-B14F-4D97-AF65-F5344CB8AC3E}">
        <p14:creationId xmlns:p14="http://schemas.microsoft.com/office/powerpoint/2010/main" val="1171742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uto 1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/>
          <p:cNvSpPr>
            <a:spLocks noGrp="1"/>
          </p:cNvSpPr>
          <p:nvPr>
            <p:ph type="title"/>
          </p:nvPr>
        </p:nvSpPr>
        <p:spPr>
          <a:xfrm>
            <a:off x="1920000" y="306000"/>
            <a:ext cx="9561600" cy="514800"/>
          </a:xfrm>
          <a:prstGeom prst="rect">
            <a:avLst/>
          </a:prstGeom>
        </p:spPr>
        <p:txBody>
          <a:bodyPr anchor="ctr" anchorCtr="0"/>
          <a:lstStyle>
            <a:lvl1pPr>
              <a:defRPr b="1" i="0">
                <a:latin typeface="Helvetica Neue"/>
                <a:cs typeface="Helvetica Neue"/>
              </a:defRPr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4" name="Segnaposto contenuto 2"/>
          <p:cNvSpPr>
            <a:spLocks noGrp="1"/>
          </p:cNvSpPr>
          <p:nvPr>
            <p:ph idx="1"/>
          </p:nvPr>
        </p:nvSpPr>
        <p:spPr>
          <a:xfrm>
            <a:off x="1920000" y="2394000"/>
            <a:ext cx="8750400" cy="3391200"/>
          </a:xfrm>
          <a:prstGeom prst="rect">
            <a:avLst/>
          </a:prstGeom>
        </p:spPr>
        <p:txBody>
          <a:bodyPr numCol="1" spcCol="360000">
            <a:normAutofit/>
          </a:bodyPr>
          <a:lstStyle>
            <a:lvl1pPr marL="0" indent="0" algn="just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  <a:latin typeface="Helvetica Neue"/>
                <a:cs typeface="Helvetica Neue"/>
              </a:defRPr>
            </a:lvl1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3"/>
          <p:cNvSpPr>
            <a:spLocks noGrp="1"/>
          </p:cNvSpPr>
          <p:nvPr>
            <p:ph type="dt" sz="half" idx="10"/>
          </p:nvPr>
        </p:nvSpPr>
        <p:spPr>
          <a:xfrm>
            <a:off x="1920001" y="6306346"/>
            <a:ext cx="1243860" cy="365125"/>
          </a:xfrm>
          <a:prstGeom prst="rect">
            <a:avLst/>
          </a:prstGeom>
        </p:spPr>
        <p:txBody>
          <a:bodyPr anchor="t" anchorCtr="0"/>
          <a:lstStyle>
            <a:lvl1pPr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pPr defTabSz="457200"/>
            <a:r>
              <a:rPr lang="it-IT">
                <a:solidFill>
                  <a:prstClr val="black">
                    <a:lumMod val="50000"/>
                    <a:lumOff val="50000"/>
                  </a:prstClr>
                </a:solidFill>
              </a:rPr>
              <a:t>gg/mm/aaaa</a:t>
            </a:r>
          </a:p>
        </p:txBody>
      </p:sp>
      <p:sp>
        <p:nvSpPr>
          <p:cNvPr id="6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425099" y="6306346"/>
            <a:ext cx="6900287" cy="365125"/>
          </a:xfrm>
          <a:prstGeom prst="rect">
            <a:avLst/>
          </a:prstGeom>
        </p:spPr>
        <p:txBody>
          <a:bodyPr anchor="t" anchorCtr="0"/>
          <a:lstStyle>
            <a:lvl1pPr algn="l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pPr defTabSz="457200"/>
            <a:r>
              <a:rPr lang="it-IT">
                <a:solidFill>
                  <a:prstClr val="black">
                    <a:lumMod val="50000"/>
                    <a:lumOff val="50000"/>
                  </a:prstClr>
                </a:solidFill>
              </a:rPr>
              <a:t>Nome insegnamento</a:t>
            </a:r>
          </a:p>
        </p:txBody>
      </p:sp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026968" y="6306346"/>
            <a:ext cx="555432" cy="365125"/>
          </a:xfrm>
          <a:prstGeom prst="rect">
            <a:avLst/>
          </a:prstGeom>
        </p:spPr>
        <p:txBody>
          <a:bodyPr anchor="t" anchorCtr="0"/>
          <a:lstStyle>
            <a:lvl1pPr>
              <a:defRPr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pPr defTabSz="457200"/>
            <a:fld id="{E0F8B7D7-B5E3-644D-9856-CC0934E69055}" type="slidenum">
              <a:rPr lang="it-IT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defTabSz="457200"/>
              <a:t>‹N›</a:t>
            </a:fld>
            <a:endParaRPr lang="it-IT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Segnaposto tes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920000" y="842400"/>
            <a:ext cx="9561600" cy="3276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2600" b="0" i="0">
                <a:solidFill>
                  <a:srgbClr val="595959"/>
                </a:solidFill>
                <a:latin typeface="Helvetica Neue Medium"/>
                <a:cs typeface="Helvetica Neue Medium"/>
              </a:defRPr>
            </a:lvl1pPr>
          </a:lstStyle>
          <a:p>
            <a:pPr lvl="0"/>
            <a:r>
              <a:rPr lang="it-IT"/>
              <a:t>Sottotitolo</a:t>
            </a:r>
          </a:p>
        </p:txBody>
      </p:sp>
      <p:pic>
        <p:nvPicPr>
          <p:cNvPr id="9" name="Immagine 8" descr="unimor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714" y="6339386"/>
            <a:ext cx="1247997" cy="17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08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B8C931B-AB00-43BB-94DA-046BEDC25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C29C320-BF1B-4316-9389-9E841E18F0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6AC8B5-DBD6-4F1B-BB9A-5CFA2F0DBE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A022F-5430-4CDB-B589-14E1FB7420EF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55E825-0552-47C8-A957-D4EF52561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9646906-4D1A-43B9-A46B-0BA845903D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9CFE0-6F72-4CA6-97B9-C41BF5F888C2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2344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339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it-IT" sz="3600"/>
              <a:t>Esercizio dimensionamento FMS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2135560" y="5229200"/>
            <a:ext cx="7992888" cy="936104"/>
          </a:xfrm>
        </p:spPr>
        <p:txBody>
          <a:bodyPr/>
          <a:lstStyle/>
          <a:p>
            <a:r>
              <a:rPr lang="it-IT" sz="3200">
                <a:solidFill>
                  <a:schemeClr val="bg1"/>
                </a:solidFill>
              </a:rPr>
              <a:t>© </a:t>
            </a:r>
            <a:r>
              <a:rPr lang="it-IT" sz="2400">
                <a:solidFill>
                  <a:schemeClr val="bg1"/>
                </a:solidFill>
              </a:rPr>
              <a:t>2022 - Corso di Logistica e Gestione Industriale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016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141"/>
    </mc:Choice>
    <mc:Fallback xmlns="">
      <p:transition spd="slow" advTm="6214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1132465"/>
                  </p:ext>
                </p:extLst>
              </p:nvPr>
            </p:nvGraphicFramePr>
            <p:xfrm>
              <a:off x="2032000" y="719666"/>
              <a:ext cx="8471218" cy="336721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32082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39136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r>
                            <a:rPr lang="it-IT" sz="2800" noProof="0">
                              <a:latin typeface="+mn-lt"/>
                            </a:rPr>
                            <a:t>Quantità</a:t>
                          </a:r>
                          <a:r>
                            <a:rPr lang="it-IT" sz="2800" baseline="0" noProof="0">
                              <a:latin typeface="+mn-lt"/>
                            </a:rPr>
                            <a:t> da</a:t>
                          </a:r>
                          <a:r>
                            <a:rPr lang="it-IT" sz="2800" noProof="0">
                              <a:latin typeface="+mn-lt"/>
                            </a:rPr>
                            <a:t> lavorare</a:t>
                          </a:r>
                          <a:r>
                            <a:rPr lang="it-IT" sz="2800" baseline="0" noProof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280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𝑝𝑒𝑧𝑧𝑖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it-IT" sz="28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4 cilindri automotive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95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6 cilindri automotive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2 cilindri industriale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4 cilindri industriale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6 cilindri industriale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2207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1132465"/>
                  </p:ext>
                </p:extLst>
              </p:nvPr>
            </p:nvGraphicFramePr>
            <p:xfrm>
              <a:off x="2032000" y="719666"/>
              <a:ext cx="8471218" cy="336721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32082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39136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</a:tblGrid>
                  <a:tr h="776415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" t="-781" r="-216" b="-35312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4 cilindri automotive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95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6 cilindri automotive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2 cilindri industriale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4 cilindri industriale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6 cilindri industriale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22079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25136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2205893"/>
                  </p:ext>
                </p:extLst>
              </p:nvPr>
            </p:nvGraphicFramePr>
            <p:xfrm>
              <a:off x="2032000" y="719666"/>
              <a:ext cx="8128000" cy="46944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98303949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279030434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945246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000">
                              <a:latin typeface="+mn-lt"/>
                            </a:rPr>
                            <a:t>Tempi di lavorazione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𝑚𝑖𝑛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𝑝𝑒𝑧𝑧𝑜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A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B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C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D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4 cilindri automotive</a:t>
                          </a:r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8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7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2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6 cilindri automotive</a:t>
                          </a:r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12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7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2 cilindri industriale</a:t>
                          </a:r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8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4 cilindri industriale</a:t>
                          </a:r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11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7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2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6 cilindri</a:t>
                          </a:r>
                          <a:r>
                            <a:rPr lang="en-GB" sz="2000"/>
                            <a:t> </a:t>
                          </a:r>
                          <a:r>
                            <a:rPr lang="it-IT" sz="2000" noProof="0"/>
                            <a:t>industriale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14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8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2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2207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52205893"/>
                  </p:ext>
                </p:extLst>
              </p:nvPr>
            </p:nvGraphicFramePr>
            <p:xfrm>
              <a:off x="2032000" y="719666"/>
              <a:ext cx="8128000" cy="46944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98303949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279030434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94524665"/>
                        </a:ext>
                      </a:extLst>
                    </a:gridCol>
                  </a:tblGrid>
                  <a:tr h="11892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5" t="-5128" r="-400375" b="-3041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A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B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C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D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4 cilindri automotive</a:t>
                          </a:r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8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7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2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6 cilindri automotive</a:t>
                          </a:r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12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7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2 cilindri industriale</a:t>
                          </a:r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8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4 cilindri industriale</a:t>
                          </a:r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11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7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2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6 cilindri</a:t>
                          </a:r>
                          <a:r>
                            <a:rPr lang="en-GB" sz="2000"/>
                            <a:t> </a:t>
                          </a:r>
                          <a:r>
                            <a:rPr lang="it-IT" sz="2000" noProof="0"/>
                            <a:t>industriale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14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8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2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22079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77357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4184434"/>
                  </p:ext>
                </p:extLst>
              </p:nvPr>
            </p:nvGraphicFramePr>
            <p:xfrm>
              <a:off x="2032000" y="719666"/>
              <a:ext cx="8128000" cy="4450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98303949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279030434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945246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000">
                              <a:latin typeface="+mn-lt"/>
                            </a:rPr>
                            <a:t>Tempi di</a:t>
                          </a:r>
                          <a:r>
                            <a:rPr lang="it-IT" sz="2000" baseline="0">
                              <a:latin typeface="+mn-lt"/>
                            </a:rPr>
                            <a:t> </a:t>
                          </a:r>
                          <a:r>
                            <a:rPr lang="it-IT" sz="2000">
                              <a:latin typeface="+mn-lt"/>
                            </a:rPr>
                            <a:t>set-up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𝑠𝑒𝑐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𝑝𝑒𝑧𝑧𝑜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A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B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C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D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4 cilindri automotive</a:t>
                          </a:r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120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90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60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6 cilindri automotive</a:t>
                          </a:r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120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80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2 cilindri industriale</a:t>
                          </a:r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60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70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4 cilindri industriale</a:t>
                          </a:r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80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80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6 cilindri</a:t>
                          </a:r>
                          <a:r>
                            <a:rPr lang="en-GB" sz="2000"/>
                            <a:t> </a:t>
                          </a:r>
                          <a:r>
                            <a:rPr lang="it-IT" sz="2000" noProof="0"/>
                            <a:t>industriale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90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80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2207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4184434"/>
                  </p:ext>
                </p:extLst>
              </p:nvPr>
            </p:nvGraphicFramePr>
            <p:xfrm>
              <a:off x="2032000" y="719666"/>
              <a:ext cx="8128000" cy="4450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98303949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279030434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94524665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5" t="-6452" r="-400375" b="-38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A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B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C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D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4 cilindri automotive</a:t>
                          </a:r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120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90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60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6 cilindri automotive</a:t>
                          </a:r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120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80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2 cilindri industriale</a:t>
                          </a:r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60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70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4 cilindri industriale</a:t>
                          </a:r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80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80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6 cilindri</a:t>
                          </a:r>
                          <a:r>
                            <a:rPr lang="en-GB" sz="2000"/>
                            <a:t> </a:t>
                          </a:r>
                          <a:r>
                            <a:rPr lang="it-IT" sz="2000" noProof="0"/>
                            <a:t>industriale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90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80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22079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1761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0FB78090-BF20-47ED-82CC-CBB5CC0DF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0640"/>
            <a:ext cx="10515600" cy="4739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>
                <a:ea typeface="Cambria Math" panose="02040503050406030204" pitchFamily="18" charset="0"/>
              </a:rPr>
              <a:t>La </a:t>
            </a:r>
            <a:r>
              <a:rPr lang="en-GB" sz="4000" err="1">
                <a:ea typeface="Cambria Math" panose="02040503050406030204" pitchFamily="18" charset="0"/>
              </a:rPr>
              <a:t>procedura</a:t>
            </a:r>
            <a:r>
              <a:rPr lang="en-GB" sz="4000">
                <a:ea typeface="Cambria Math" panose="02040503050406030204" pitchFamily="18" charset="0"/>
              </a:rPr>
              <a:t> di </a:t>
            </a:r>
            <a:r>
              <a:rPr lang="en-GB" sz="4000" err="1">
                <a:ea typeface="Cambria Math" panose="02040503050406030204" pitchFamily="18" charset="0"/>
              </a:rPr>
              <a:t>dimensionamento</a:t>
            </a:r>
            <a:r>
              <a:rPr lang="en-GB" sz="4000">
                <a:ea typeface="Cambria Math" panose="02040503050406030204" pitchFamily="18" charset="0"/>
              </a:rPr>
              <a:t> </a:t>
            </a:r>
            <a:r>
              <a:rPr lang="en-GB" sz="4000" err="1">
                <a:ea typeface="Cambria Math" panose="02040503050406030204" pitchFamily="18" charset="0"/>
              </a:rPr>
              <a:t>delle</a:t>
            </a:r>
            <a:r>
              <a:rPr lang="en-GB" sz="4000">
                <a:ea typeface="Cambria Math" panose="02040503050406030204" pitchFamily="18" charset="0"/>
              </a:rPr>
              <a:t> </a:t>
            </a:r>
            <a:r>
              <a:rPr lang="en-GB" sz="4000" err="1">
                <a:ea typeface="Cambria Math" panose="02040503050406030204" pitchFamily="18" charset="0"/>
              </a:rPr>
              <a:t>risorse</a:t>
            </a:r>
            <a:r>
              <a:rPr lang="en-GB" sz="4000">
                <a:ea typeface="Cambria Math" panose="02040503050406030204" pitchFamily="18" charset="0"/>
              </a:rPr>
              <a:t> </a:t>
            </a:r>
            <a:r>
              <a:rPr lang="en-GB" sz="4000" err="1">
                <a:ea typeface="Cambria Math" panose="02040503050406030204" pitchFamily="18" charset="0"/>
              </a:rPr>
              <a:t>produttive</a:t>
            </a:r>
            <a:r>
              <a:rPr lang="en-GB" sz="4000">
                <a:ea typeface="Cambria Math" panose="02040503050406030204" pitchFamily="18" charset="0"/>
              </a:rPr>
              <a:t> </a:t>
            </a:r>
            <a:r>
              <a:rPr lang="en-GB" sz="4000" err="1">
                <a:ea typeface="Cambria Math" panose="02040503050406030204" pitchFamily="18" charset="0"/>
              </a:rPr>
              <a:t>prevede</a:t>
            </a:r>
            <a:r>
              <a:rPr lang="en-GB" sz="4000">
                <a:ea typeface="Cambria Math" panose="02040503050406030204" pitchFamily="18" charset="0"/>
              </a:rPr>
              <a:t> </a:t>
            </a:r>
            <a:r>
              <a:rPr lang="en-GB" sz="4000" err="1">
                <a:ea typeface="Cambria Math" panose="02040503050406030204" pitchFamily="18" charset="0"/>
              </a:rPr>
              <a:t>il</a:t>
            </a:r>
            <a:r>
              <a:rPr lang="en-GB" sz="4000">
                <a:ea typeface="Cambria Math" panose="02040503050406030204" pitchFamily="18" charset="0"/>
              </a:rPr>
              <a:t> </a:t>
            </a:r>
            <a:r>
              <a:rPr lang="en-GB" sz="4000" err="1">
                <a:ea typeface="Cambria Math" panose="02040503050406030204" pitchFamily="18" charset="0"/>
              </a:rPr>
              <a:t>calcolo</a:t>
            </a:r>
            <a:r>
              <a:rPr lang="en-GB" sz="4000">
                <a:ea typeface="Cambria Math" panose="02040503050406030204" pitchFamily="18" charset="0"/>
              </a:rPr>
              <a:t> del tempo </a:t>
            </a:r>
            <a:r>
              <a:rPr lang="en-GB" sz="4000" err="1">
                <a:ea typeface="Cambria Math" panose="02040503050406030204" pitchFamily="18" charset="0"/>
              </a:rPr>
              <a:t>necessario</a:t>
            </a:r>
            <a:r>
              <a:rPr lang="en-GB" sz="4000">
                <a:ea typeface="Cambria Math" panose="02040503050406030204" pitchFamily="18" charset="0"/>
              </a:rPr>
              <a:t> </a:t>
            </a:r>
            <a:r>
              <a:rPr lang="en-GB" sz="4000" err="1">
                <a:ea typeface="Cambria Math" panose="02040503050406030204" pitchFamily="18" charset="0"/>
              </a:rPr>
              <a:t>alla</a:t>
            </a:r>
            <a:r>
              <a:rPr lang="en-GB" sz="4000">
                <a:ea typeface="Cambria Math" panose="02040503050406030204" pitchFamily="18" charset="0"/>
              </a:rPr>
              <a:t> </a:t>
            </a:r>
            <a:r>
              <a:rPr lang="en-GB" sz="4000" err="1">
                <a:ea typeface="Cambria Math" panose="02040503050406030204" pitchFamily="18" charset="0"/>
              </a:rPr>
              <a:t>risorsa</a:t>
            </a:r>
            <a:r>
              <a:rPr lang="en-GB" sz="4000">
                <a:ea typeface="Cambria Math" panose="02040503050406030204" pitchFamily="18" charset="0"/>
              </a:rPr>
              <a:t> in </a:t>
            </a:r>
            <a:r>
              <a:rPr lang="en-GB" sz="4000" err="1">
                <a:ea typeface="Cambria Math" panose="02040503050406030204" pitchFamily="18" charset="0"/>
              </a:rPr>
              <a:t>esame</a:t>
            </a:r>
            <a:r>
              <a:rPr lang="en-GB" sz="4000">
                <a:ea typeface="Cambria Math" panose="02040503050406030204" pitchFamily="18" charset="0"/>
              </a:rPr>
              <a:t> per far </a:t>
            </a:r>
            <a:r>
              <a:rPr lang="en-GB" sz="4000" err="1">
                <a:ea typeface="Cambria Math" panose="02040503050406030204" pitchFamily="18" charset="0"/>
              </a:rPr>
              <a:t>fronte</a:t>
            </a:r>
            <a:r>
              <a:rPr lang="en-GB" sz="4000">
                <a:ea typeface="Cambria Math" panose="02040503050406030204" pitchFamily="18" charset="0"/>
              </a:rPr>
              <a:t> </a:t>
            </a:r>
            <a:r>
              <a:rPr lang="en-GB" sz="4000" err="1">
                <a:ea typeface="Cambria Math" panose="02040503050406030204" pitchFamily="18" charset="0"/>
              </a:rPr>
              <a:t>alla</a:t>
            </a:r>
            <a:r>
              <a:rPr lang="en-GB" sz="4000">
                <a:ea typeface="Cambria Math" panose="02040503050406030204" pitchFamily="18" charset="0"/>
              </a:rPr>
              <a:t> </a:t>
            </a:r>
            <a:r>
              <a:rPr lang="en-GB" sz="4000" err="1">
                <a:ea typeface="Cambria Math" panose="02040503050406030204" pitchFamily="18" charset="0"/>
              </a:rPr>
              <a:t>produzione</a:t>
            </a:r>
            <a:r>
              <a:rPr lang="en-GB" sz="4000">
                <a:ea typeface="Cambria Math" panose="02040503050406030204" pitchFamily="18" charset="0"/>
              </a:rPr>
              <a:t> </a:t>
            </a:r>
            <a:r>
              <a:rPr lang="en-GB" sz="4000" err="1">
                <a:ea typeface="Cambria Math" panose="02040503050406030204" pitchFamily="18" charset="0"/>
              </a:rPr>
              <a:t>richiesta</a:t>
            </a:r>
            <a:r>
              <a:rPr lang="en-GB" sz="4000">
                <a:ea typeface="Cambria Math" panose="02040503050406030204" pitchFamily="18" charset="0"/>
              </a:rPr>
              <a:t> e </a:t>
            </a:r>
            <a:r>
              <a:rPr lang="en-GB" sz="4000" err="1">
                <a:ea typeface="Cambria Math" panose="02040503050406030204" pitchFamily="18" charset="0"/>
              </a:rPr>
              <a:t>il</a:t>
            </a:r>
            <a:r>
              <a:rPr lang="en-GB" sz="4000">
                <a:ea typeface="Cambria Math" panose="02040503050406030204" pitchFamily="18" charset="0"/>
              </a:rPr>
              <a:t> tempo in cui la </a:t>
            </a:r>
            <a:r>
              <a:rPr lang="en-GB" sz="4000" err="1">
                <a:ea typeface="Cambria Math" panose="02040503050406030204" pitchFamily="18" charset="0"/>
              </a:rPr>
              <a:t>risorsa</a:t>
            </a:r>
            <a:r>
              <a:rPr lang="en-GB" sz="4000">
                <a:ea typeface="Cambria Math" panose="02040503050406030204" pitchFamily="18" charset="0"/>
              </a:rPr>
              <a:t> è </a:t>
            </a:r>
            <a:r>
              <a:rPr lang="en-GB" sz="4000" err="1">
                <a:ea typeface="Cambria Math" panose="02040503050406030204" pitchFamily="18" charset="0"/>
              </a:rPr>
              <a:t>disponibile</a:t>
            </a:r>
            <a:r>
              <a:rPr lang="en-GB" sz="4000">
                <a:ea typeface="Cambria Math" panose="02040503050406030204" pitchFamily="18" charset="0"/>
              </a:rPr>
              <a:t>.</a:t>
            </a:r>
          </a:p>
          <a:p>
            <a:pPr marL="0" indent="0">
              <a:buNone/>
            </a:pPr>
            <a:r>
              <a:rPr lang="en-GB" sz="4000">
                <a:ea typeface="Cambria Math" panose="02040503050406030204" pitchFamily="18" charset="0"/>
              </a:rPr>
              <a:t>Il </a:t>
            </a:r>
            <a:r>
              <a:rPr lang="en-GB" sz="4000" err="1">
                <a:ea typeface="Cambria Math" panose="02040503050406030204" pitchFamily="18" charset="0"/>
              </a:rPr>
              <a:t>numero</a:t>
            </a:r>
            <a:r>
              <a:rPr lang="en-GB" sz="4000">
                <a:ea typeface="Cambria Math" panose="02040503050406030204" pitchFamily="18" charset="0"/>
              </a:rPr>
              <a:t> </a:t>
            </a:r>
            <a:r>
              <a:rPr lang="en-GB" sz="4000" err="1">
                <a:ea typeface="Cambria Math" panose="02040503050406030204" pitchFamily="18" charset="0"/>
              </a:rPr>
              <a:t>necessario</a:t>
            </a:r>
            <a:r>
              <a:rPr lang="en-GB" sz="4000">
                <a:ea typeface="Cambria Math" panose="02040503050406030204" pitchFamily="18" charset="0"/>
              </a:rPr>
              <a:t> per </a:t>
            </a:r>
            <a:r>
              <a:rPr lang="en-GB" sz="4000" err="1">
                <a:ea typeface="Cambria Math" panose="02040503050406030204" pitchFamily="18" charset="0"/>
              </a:rPr>
              <a:t>ogni</a:t>
            </a:r>
            <a:r>
              <a:rPr lang="en-GB" sz="4000">
                <a:ea typeface="Cambria Math" panose="02040503050406030204" pitchFamily="18" charset="0"/>
              </a:rPr>
              <a:t> </a:t>
            </a:r>
            <a:r>
              <a:rPr lang="en-GB" sz="4000" err="1">
                <a:ea typeface="Cambria Math" panose="02040503050406030204" pitchFamily="18" charset="0"/>
              </a:rPr>
              <a:t>risorsa</a:t>
            </a:r>
            <a:r>
              <a:rPr lang="en-GB" sz="4000">
                <a:ea typeface="Cambria Math" panose="02040503050406030204" pitchFamily="18" charset="0"/>
              </a:rPr>
              <a:t> è </a:t>
            </a:r>
            <a:r>
              <a:rPr lang="en-GB" sz="4000" err="1">
                <a:ea typeface="Cambria Math" panose="02040503050406030204" pitchFamily="18" charset="0"/>
              </a:rPr>
              <a:t>dato</a:t>
            </a:r>
            <a:r>
              <a:rPr lang="en-GB" sz="4000">
                <a:ea typeface="Cambria Math" panose="02040503050406030204" pitchFamily="18" charset="0"/>
              </a:rPr>
              <a:t> dal </a:t>
            </a:r>
            <a:r>
              <a:rPr lang="en-GB" sz="4000" err="1">
                <a:ea typeface="Cambria Math" panose="02040503050406030204" pitchFamily="18" charset="0"/>
              </a:rPr>
              <a:t>rapporto</a:t>
            </a:r>
            <a:r>
              <a:rPr lang="en-GB" sz="4000">
                <a:ea typeface="Cambria Math" panose="02040503050406030204" pitchFamily="18" charset="0"/>
              </a:rPr>
              <a:t> </a:t>
            </a:r>
            <a:r>
              <a:rPr lang="en-GB" sz="4000" err="1">
                <a:ea typeface="Cambria Math" panose="02040503050406030204" pitchFamily="18" charset="0"/>
              </a:rPr>
              <a:t>fra</a:t>
            </a:r>
            <a:r>
              <a:rPr lang="en-GB" sz="4000">
                <a:ea typeface="Cambria Math" panose="02040503050406030204" pitchFamily="18" charset="0"/>
              </a:rPr>
              <a:t> </a:t>
            </a:r>
            <a:r>
              <a:rPr lang="en-GB" sz="4000" err="1">
                <a:ea typeface="Cambria Math" panose="02040503050406030204" pitchFamily="18" charset="0"/>
              </a:rPr>
              <a:t>queste</a:t>
            </a:r>
            <a:r>
              <a:rPr lang="en-GB" sz="4000">
                <a:ea typeface="Cambria Math" panose="02040503050406030204" pitchFamily="18" charset="0"/>
              </a:rPr>
              <a:t> due </a:t>
            </a:r>
            <a:r>
              <a:rPr lang="en-GB" sz="4000" err="1">
                <a:ea typeface="Cambria Math" panose="02040503050406030204" pitchFamily="18" charset="0"/>
              </a:rPr>
              <a:t>grandezze</a:t>
            </a:r>
            <a:r>
              <a:rPr lang="en-GB" sz="4000">
                <a:ea typeface="Cambria Math" panose="02040503050406030204" pitchFamily="18" charset="0"/>
              </a:rPr>
              <a:t>.</a:t>
            </a:r>
          </a:p>
          <a:p>
            <a:pPr marL="0" indent="0">
              <a:buNone/>
            </a:pPr>
            <a:endParaRPr lang="en-GB">
              <a:ea typeface="Cambria Math" panose="02040503050406030204" pitchFamily="18" charset="0"/>
            </a:endParaRPr>
          </a:p>
          <a:p>
            <a:pPr marL="0" indent="0">
              <a:buNone/>
            </a:pPr>
            <a:endParaRPr lang="en-GB"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1144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0FB78090-BF20-47ED-82CC-CBB5CC0DF7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11262"/>
                <a:ext cx="10515600" cy="58491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sz="3600">
                    <a:latin typeface="+mj-lt"/>
                  </a:rPr>
                  <a:t>Tempo di lavorazione sulla macchina A</a:t>
                </a:r>
              </a:p>
              <a:p>
                <a:pPr marL="0" indent="0">
                  <a:buNone/>
                </a:pPr>
                <a:endParaRPr lang="it-IT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𝑙𝐴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=5∙95+4∙50+5∙10+5∙15</m:t>
                      </m:r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𝑙𝐴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=800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𝑠𝐴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=50∙95+50∙50+60∙10+50∙15</m:t>
                      </m:r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𝑠𝐴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=8600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𝑠𝑒𝑐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800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8600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60∙60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=15.72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0FB78090-BF20-47ED-82CC-CBB5CC0DF7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11262"/>
                <a:ext cx="10515600" cy="5849160"/>
              </a:xfrm>
              <a:blipFill>
                <a:blip r:embed="rId2"/>
                <a:stretch>
                  <a:fillRect l="-1797" t="-260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7302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8951772"/>
                  </p:ext>
                </p:extLst>
              </p:nvPr>
            </p:nvGraphicFramePr>
            <p:xfrm>
              <a:off x="2032000" y="719666"/>
              <a:ext cx="8471218" cy="284905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32082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39136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r>
                            <a:rPr lang="it-IT" sz="2800" baseline="0" noProof="0">
                              <a:latin typeface="+mn-lt"/>
                            </a:rPr>
                            <a:t>Utilizzo della macchina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280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it-IT" sz="28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Macchina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15.72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Macchina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35.56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Macchina 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24.44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Macchina 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7.11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8951772"/>
                  </p:ext>
                </p:extLst>
              </p:nvPr>
            </p:nvGraphicFramePr>
            <p:xfrm>
              <a:off x="2032000" y="719666"/>
              <a:ext cx="8471218" cy="284905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32082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39136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</a:tblGrid>
                  <a:tr h="776415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" t="-781" r="-216" b="-28671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Macchina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15.72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Macchina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35.56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Macchina 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24.44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Macchina 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7.11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6250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2706085"/>
                  </p:ext>
                </p:extLst>
              </p:nvPr>
            </p:nvGraphicFramePr>
            <p:xfrm>
              <a:off x="2032000" y="719666"/>
              <a:ext cx="8471218" cy="414363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32082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39136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r>
                            <a:rPr lang="it-IT" sz="2800" baseline="0" noProof="0">
                              <a:latin typeface="+mn-lt"/>
                            </a:rPr>
                            <a:t>Dati di utilizzo macchina</a:t>
                          </a:r>
                          <a:endParaRPr lang="it-IT" sz="28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Turni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28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</a:rPr>
                                        <m:t>𝑡𝑢𝑟𝑛𝑖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it-IT" sz="2800" noProof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Ore lavorative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28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it-IT" sz="2800" noProof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22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Disponibilità di impianto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0.90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Frazione scartata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0.05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  <a:tr h="3454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Efficienza per movimento utensili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0.96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251839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Efficienza per movimento pallet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0.92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13665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2706085"/>
                  </p:ext>
                </p:extLst>
              </p:nvPr>
            </p:nvGraphicFramePr>
            <p:xfrm>
              <a:off x="2032000" y="719666"/>
              <a:ext cx="8471218" cy="414363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32082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39136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</a:tblGrid>
                  <a:tr h="518160">
                    <a:tc gridSpan="2">
                      <a:txBody>
                        <a:bodyPr/>
                        <a:lstStyle/>
                        <a:p>
                          <a:r>
                            <a:rPr lang="it-IT" sz="2800" baseline="0" noProof="0">
                              <a:latin typeface="+mn-lt"/>
                            </a:rPr>
                            <a:t>Dati di utilizzo macchina</a:t>
                          </a:r>
                          <a:endParaRPr lang="it-IT" sz="28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7764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" t="-74803" r="-24264" b="-3905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77641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" t="-173438" r="-24264" b="-28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22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Disponibilità di impianto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0.90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Frazione scartata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0.05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Efficienza per movimento utensili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0.96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251839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Efficienza per movimento pallet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0.92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613665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55381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0FB78090-BF20-47ED-82CC-CBB5CC0DF7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125"/>
                <a:ext cx="10515600" cy="58491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sz="3600">
                    <a:latin typeface="+mj-lt"/>
                  </a:rPr>
                  <a:t>Utilizzo della macchina A</a:t>
                </a:r>
              </a:p>
              <a:p>
                <a:pPr marL="0" indent="0">
                  <a:buNone/>
                </a:pPr>
                <a:endParaRPr lang="it-IT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15.72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22∙0.90∙0.95∙0.96∙0.92</m:t>
                          </m:r>
                        </m:den>
                      </m:f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0.95</m:t>
                          </m:r>
                        </m:e>
                      </m:d>
                    </m:oMath>
                  </m:oMathPara>
                </a14:m>
                <a:endParaRPr lang="it-IT" b="0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0.95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=0.95</m:t>
                      </m:r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0FB78090-BF20-47ED-82CC-CBB5CC0DF7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125"/>
                <a:ext cx="10515600" cy="5849160"/>
              </a:xfrm>
              <a:blipFill>
                <a:blip r:embed="rId2"/>
                <a:stretch>
                  <a:fillRect l="-1797" t="-2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8890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572694"/>
                  </p:ext>
                </p:extLst>
              </p:nvPr>
            </p:nvGraphicFramePr>
            <p:xfrm>
              <a:off x="2032000" y="719666"/>
              <a:ext cx="8128001" cy="295706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89494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2046169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  <a:gridCol w="2046169">
                      <a:extLst>
                        <a:ext uri="{9D8B030D-6E8A-4147-A177-3AD203B41FA5}">
                          <a16:colId xmlns:a16="http://schemas.microsoft.com/office/drawing/2014/main" val="1983039496"/>
                        </a:ext>
                      </a:extLst>
                    </a:gridCol>
                    <a:gridCol w="2046169">
                      <a:extLst>
                        <a:ext uri="{9D8B030D-6E8A-4147-A177-3AD203B41FA5}">
                          <a16:colId xmlns:a16="http://schemas.microsoft.com/office/drawing/2014/main" val="22790304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000">
                              <a:latin typeface="+mn-lt"/>
                            </a:rPr>
                            <a:t>Tempi di</a:t>
                          </a:r>
                          <a:r>
                            <a:rPr lang="it-IT" sz="2000" baseline="0">
                              <a:latin typeface="+mn-lt"/>
                            </a:rPr>
                            <a:t> </a:t>
                          </a:r>
                          <a:r>
                            <a:rPr lang="it-IT" sz="2000">
                              <a:latin typeface="+mn-lt"/>
                            </a:rPr>
                            <a:t>set-up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𝑠𝑒𝑐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𝑝𝑒𝑧𝑧𝑜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en-GB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it-IT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p>
                                    <m:r>
                                      <a:rPr lang="it-IT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it-IT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oMath>
                            </m:oMathPara>
                          </a14:m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it-IT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oMath>
                            </m:oMathPara>
                          </a14:m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A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0.95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0.95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B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2.14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3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0.71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C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1.47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2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0.74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D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0.43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0.43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572694"/>
                  </p:ext>
                </p:extLst>
              </p:nvPr>
            </p:nvGraphicFramePr>
            <p:xfrm>
              <a:off x="2032000" y="719666"/>
              <a:ext cx="8128001" cy="295706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89494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2046169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  <a:gridCol w="2046169">
                      <a:extLst>
                        <a:ext uri="{9D8B030D-6E8A-4147-A177-3AD203B41FA5}">
                          <a16:colId xmlns:a16="http://schemas.microsoft.com/office/drawing/2014/main" val="1983039496"/>
                        </a:ext>
                      </a:extLst>
                    </a:gridCol>
                    <a:gridCol w="2046169">
                      <a:extLst>
                        <a:ext uri="{9D8B030D-6E8A-4147-A177-3AD203B41FA5}">
                          <a16:colId xmlns:a16="http://schemas.microsoft.com/office/drawing/2014/main" val="2279030434"/>
                        </a:ext>
                      </a:extLst>
                    </a:gridCol>
                  </a:tblGrid>
                  <a:tr h="8844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6" t="-3448" r="-308563" b="-25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7910" t="-3448" r="-201194" b="-25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7321" t="-3448" r="-100595" b="-25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7321" t="-3448" r="-595" b="-2537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A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0.95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0.95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B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2.14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3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0.71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C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1.47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2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0.74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D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0.43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0.43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56499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4887688"/>
                  </p:ext>
                </p:extLst>
              </p:nvPr>
            </p:nvGraphicFramePr>
            <p:xfrm>
              <a:off x="2032000" y="719666"/>
              <a:ext cx="8128001" cy="429647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89494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2046169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  <a:gridCol w="2046169">
                      <a:extLst>
                        <a:ext uri="{9D8B030D-6E8A-4147-A177-3AD203B41FA5}">
                          <a16:colId xmlns:a16="http://schemas.microsoft.com/office/drawing/2014/main" val="1983039496"/>
                        </a:ext>
                      </a:extLst>
                    </a:gridCol>
                    <a:gridCol w="2046169">
                      <a:extLst>
                        <a:ext uri="{9D8B030D-6E8A-4147-A177-3AD203B41FA5}">
                          <a16:colId xmlns:a16="http://schemas.microsoft.com/office/drawing/2014/main" val="22790304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i="0">
                              <a:latin typeface="+mn-lt"/>
                              <a:ea typeface="Cambria Math" panose="02040503050406030204" pitchFamily="18" charset="0"/>
                            </a:rPr>
                            <a:t>Costi unitari</a:t>
                          </a:r>
                          <a:endParaRPr lang="en-GB" sz="28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Costo di acquisto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</a:rPr>
                                        <m:t>€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</a:rPr>
                                        <m:t>𝑚𝑎𝑐𝑐h𝑖𝑛𝑎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Rata di ammortamento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</a:rPr>
                                        <m:t>€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</a:rPr>
                                        <m:t>𝑎𝑛𝑛𝑜</m:t>
                                      </m:r>
                                    </m:e>
                                  </m:d>
                                  <m:r>
                                    <a:rPr lang="it-IT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𝑚𝑎𝑐𝑐h𝑖𝑛𝑎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en-GB" sz="20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000"/>
                            <a:t>Costi variabili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</a:rPr>
                                        <m:t>€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</a:rPr>
                                        <m:t>𝑎𝑛𝑛𝑜</m:t>
                                      </m:r>
                                    </m:e>
                                  </m:d>
                                  <m:r>
                                    <a:rPr lang="it-IT" sz="20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0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𝑚𝑎𝑐𝑐h𝑖𝑛𝑎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en-GB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A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300’000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37’500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10’000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B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420’000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52’500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13’500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C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450’000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56’250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12’400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D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550’000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68’750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15’500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  <a:tr h="34544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Trasporto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250’000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31’250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6’300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7191064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Carosello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35’000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4’375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3’000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11654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4887688"/>
                  </p:ext>
                </p:extLst>
              </p:nvPr>
            </p:nvGraphicFramePr>
            <p:xfrm>
              <a:off x="2032000" y="719666"/>
              <a:ext cx="8128001" cy="429647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989494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2046169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  <a:gridCol w="2046169">
                      <a:extLst>
                        <a:ext uri="{9D8B030D-6E8A-4147-A177-3AD203B41FA5}">
                          <a16:colId xmlns:a16="http://schemas.microsoft.com/office/drawing/2014/main" val="1983039496"/>
                        </a:ext>
                      </a:extLst>
                    </a:gridCol>
                    <a:gridCol w="2046169">
                      <a:extLst>
                        <a:ext uri="{9D8B030D-6E8A-4147-A177-3AD203B41FA5}">
                          <a16:colId xmlns:a16="http://schemas.microsoft.com/office/drawing/2014/main" val="2279030434"/>
                        </a:ext>
                      </a:extLst>
                    </a:gridCol>
                  </a:tblGrid>
                  <a:tr h="1187514">
                    <a:tc>
                      <a:txBody>
                        <a:bodyPr/>
                        <a:lstStyle/>
                        <a:p>
                          <a:r>
                            <a:rPr lang="it-IT" sz="2800" i="0">
                              <a:latin typeface="+mn-lt"/>
                              <a:ea typeface="Cambria Math" panose="02040503050406030204" pitchFamily="18" charset="0"/>
                            </a:rPr>
                            <a:t>Costi unitari</a:t>
                          </a:r>
                          <a:endParaRPr lang="en-GB" sz="28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7910" t="-5128" r="-201194" b="-27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7321" t="-5128" r="-100595" b="-27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97321" t="-5128" r="-595" b="-2758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A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300’000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37’500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10’000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B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420’000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52’500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13’500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C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450’000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56’250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12’400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Macchina D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550’000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68’750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15’500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Trasporto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250’000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31’250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6’300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719106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Carosello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35’000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4’375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3’000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711654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88889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0FB78090-BF20-47ED-82CC-CBB5CC0DF7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125"/>
                <a:ext cx="10515600" cy="58491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sz="3600">
                    <a:latin typeface="+mj-lt"/>
                  </a:rPr>
                  <a:t>Costo della macchina A</a:t>
                </a:r>
              </a:p>
              <a:p>
                <a:pPr marL="0" indent="0">
                  <a:buNone/>
                </a:pPr>
                <a:endParaRPr lang="it-IT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37′500+10′000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</m:t>
                      </m:r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=47′500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€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𝑎𝑛𝑛𝑜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0FB78090-BF20-47ED-82CC-CBB5CC0DF7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125"/>
                <a:ext cx="10515600" cy="5849160"/>
              </a:xfrm>
              <a:blipFill>
                <a:blip r:embed="rId2"/>
                <a:stretch>
                  <a:fillRect l="-1797" t="-2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3563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6374406"/>
                  </p:ext>
                </p:extLst>
              </p:nvPr>
            </p:nvGraphicFramePr>
            <p:xfrm>
              <a:off x="2032000" y="719666"/>
              <a:ext cx="8471218" cy="388137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32082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39136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r>
                            <a:rPr lang="it-IT" sz="2800" baseline="0" noProof="0">
                              <a:latin typeface="+mn-lt"/>
                            </a:rPr>
                            <a:t>Costi totali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280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€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𝑎𝑛𝑛𝑜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it-IT" sz="2800" i="1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Macchina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47’500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Macchina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198’000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Macchina 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137’300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Macchina 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84’250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  <a:tr h="3454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Trasporto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37’550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6897319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Carosello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7’375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34194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6374406"/>
                  </p:ext>
                </p:extLst>
              </p:nvPr>
            </p:nvGraphicFramePr>
            <p:xfrm>
              <a:off x="2032000" y="719666"/>
              <a:ext cx="8471218" cy="3881374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32082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39136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</a:tblGrid>
                  <a:tr h="772414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2" t="-787" r="-216" b="-42362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Macchina 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47’500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Macchina 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198’000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Macchina 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137’300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Macchina 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84’250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Trasporto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37’550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66897319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Carosello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7’375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7341948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14330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5">
            <a:extLst>
              <a:ext uri="{FF2B5EF4-FFF2-40B4-BE49-F238E27FC236}">
                <a16:creationId xmlns:a16="http://schemas.microsoft.com/office/drawing/2014/main" id="{0EA049D5-891B-4234-AEC7-FDB67E584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347353"/>
              </p:ext>
            </p:extLst>
          </p:nvPr>
        </p:nvGraphicFramePr>
        <p:xfrm>
          <a:off x="2032000" y="719666"/>
          <a:ext cx="8127996" cy="420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6">
                  <a:extLst>
                    <a:ext uri="{9D8B030D-6E8A-4147-A177-3AD203B41FA5}">
                      <a16:colId xmlns:a16="http://schemas.microsoft.com/office/drawing/2014/main" val="3316804585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711600143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1983039496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287804169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2279030434"/>
                    </a:ext>
                  </a:extLst>
                </a:gridCol>
                <a:gridCol w="1354666">
                  <a:extLst>
                    <a:ext uri="{9D8B030D-6E8A-4147-A177-3AD203B41FA5}">
                      <a16:colId xmlns:a16="http://schemas.microsoft.com/office/drawing/2014/main" val="4945246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2000" i="0">
                          <a:latin typeface="+mn-lt"/>
                          <a:ea typeface="Cambria Math" panose="02040503050406030204" pitchFamily="18" charset="0"/>
                        </a:rPr>
                        <a:t>Piazzamenti</a:t>
                      </a:r>
                      <a:endParaRPr lang="en-GB" sz="2000" i="0">
                        <a:latin typeface="Cambria Math" panose="02040503050406030204" pitchFamily="18" charset="0"/>
                        <a:ea typeface="Cambria Math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Piazzamento 1</a:t>
                      </a:r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Piazzamento 2</a:t>
                      </a:r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Piazzamento 3</a:t>
                      </a:r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000"/>
                        <a:t>Piazzamento 4</a:t>
                      </a:r>
                      <a:endParaRPr lang="en-GB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6172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2000"/>
                        <a:t>4 cilindri automotive</a:t>
                      </a:r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/>
                        <a:t>A</a:t>
                      </a:r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/>
                        <a:t>A</a:t>
                      </a:r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/>
                        <a:t>B C D</a:t>
                      </a:r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325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2000"/>
                        <a:t>6 cilindri automotive</a:t>
                      </a:r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/>
                        <a:t>A</a:t>
                      </a:r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/>
                        <a:t>B</a:t>
                      </a:r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/>
                        <a:t>B C</a:t>
                      </a:r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012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2000"/>
                        <a:t>2 cilindri industriale</a:t>
                      </a:r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/>
                        <a:t>A</a:t>
                      </a:r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/>
                        <a:t>A B D</a:t>
                      </a:r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/>
                        <a:t>D</a:t>
                      </a:r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/>
                        <a:t>D</a:t>
                      </a:r>
                      <a:endParaRPr lang="en-GB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261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2000"/>
                        <a:t>4 cilindri industriale</a:t>
                      </a:r>
                      <a:endParaRPr lang="en-GB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/>
                        <a:t>B</a:t>
                      </a:r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/>
                        <a:t>C</a:t>
                      </a:r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/>
                        <a:t>D</a:t>
                      </a:r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947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2000"/>
                        <a:t>6 cilindri</a:t>
                      </a:r>
                      <a:r>
                        <a:rPr lang="en-GB" sz="2000"/>
                        <a:t> </a:t>
                      </a:r>
                      <a:r>
                        <a:rPr lang="it-IT" sz="2000" noProof="0"/>
                        <a:t>industriale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/>
                        <a:t>A</a:t>
                      </a:r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/>
                        <a:t>B</a:t>
                      </a:r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it-IT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2800"/>
                        <a:t>C D</a:t>
                      </a:r>
                      <a:endParaRPr lang="en-GB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207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543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9207820"/>
                  </p:ext>
                </p:extLst>
              </p:nvPr>
            </p:nvGraphicFramePr>
            <p:xfrm>
              <a:off x="2032000" y="719666"/>
              <a:ext cx="8128000" cy="33654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77518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50482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r>
                            <a:rPr lang="it-IT" sz="2800" i="0">
                              <a:latin typeface="+mn-lt"/>
                              <a:ea typeface="Cambria Math" panose="02040503050406030204" pitchFamily="18" charset="0"/>
                            </a:rPr>
                            <a:t>Tempi di piazzamento unitari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2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𝑝𝑖𝑎𝑧𝑧𝑎𝑚𝑒𝑛𝑡𝑜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en-GB" sz="28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 cilindri automotive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125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6 cilindri automotive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150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2 cilindri industriale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125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 cilindri industriale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125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6 cilindri</a:t>
                          </a:r>
                          <a:r>
                            <a:rPr lang="en-GB" sz="2800"/>
                            <a:t> </a:t>
                          </a:r>
                          <a:r>
                            <a:rPr lang="it-IT" sz="2800" noProof="0"/>
                            <a:t>industriale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150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22079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9207820"/>
                  </p:ext>
                </p:extLst>
              </p:nvPr>
            </p:nvGraphicFramePr>
            <p:xfrm>
              <a:off x="2032000" y="719666"/>
              <a:ext cx="8128000" cy="336543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77518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50482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</a:tblGrid>
                  <a:tr h="774637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5" t="-787" r="-150" b="-35669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 cilindri automotive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125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6 cilindri automotive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150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2 cilindri industriale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125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 cilindri industriale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125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6 cilindri</a:t>
                          </a:r>
                          <a:r>
                            <a:rPr lang="en-GB" sz="2800"/>
                            <a:t> </a:t>
                          </a:r>
                          <a:r>
                            <a:rPr lang="it-IT" sz="2800" noProof="0"/>
                            <a:t>industriale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150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322079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94033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0FB78090-BF20-47ED-82CC-CBB5CC0DF7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125"/>
                <a:ext cx="10515600" cy="58491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sz="3600">
                    <a:latin typeface="+mj-lt"/>
                  </a:rPr>
                  <a:t>Tempo per il piazzamento 1</a:t>
                </a:r>
              </a:p>
              <a:p>
                <a:pPr marL="0" indent="0">
                  <a:buNone/>
                </a:pPr>
                <a:endParaRPr lang="it-IT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125∙95+150∙50+125∙10+125∙12+150∙15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=406.25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0FB78090-BF20-47ED-82CC-CBB5CC0DF7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125"/>
                <a:ext cx="10515600" cy="5849160"/>
              </a:xfrm>
              <a:blipFill>
                <a:blip r:embed="rId2"/>
                <a:stretch>
                  <a:fillRect l="-1797" t="-2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6502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4833300"/>
                  </p:ext>
                </p:extLst>
              </p:nvPr>
            </p:nvGraphicFramePr>
            <p:xfrm>
              <a:off x="2032000" y="719666"/>
              <a:ext cx="8128000" cy="284905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77518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50482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r>
                            <a:rPr lang="it-IT" sz="2800" i="0">
                              <a:latin typeface="+mn-lt"/>
                              <a:ea typeface="Cambria Math" panose="02040503050406030204" pitchFamily="18" charset="0"/>
                            </a:rPr>
                            <a:t>Tempi di piazzamento totali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28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𝑚𝑖𝑛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en-GB" sz="2800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Piazzamento 1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406.25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Piazzamento 2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406.25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Piazzamento 3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406.25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Piazzamento 4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20.83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4833300"/>
                  </p:ext>
                </p:extLst>
              </p:nvPr>
            </p:nvGraphicFramePr>
            <p:xfrm>
              <a:off x="2032000" y="719666"/>
              <a:ext cx="8128000" cy="284905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477518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50482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</a:tblGrid>
                  <a:tr h="776415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5" t="-781" r="-150" b="-28671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sz="20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Piazzamento 1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406.25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Piazzamento 2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406.25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Piazzamento 3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406.25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Piazzamento 4</a:t>
                          </a:r>
                          <a:endParaRPr lang="en-GB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/>
                            <a:t>20.83</a:t>
                          </a:r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92365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0FB78090-BF20-47ED-82CC-CBB5CC0DF7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65125"/>
                <a:ext cx="10515600" cy="58491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sz="3600">
                    <a:latin typeface="+mj-lt"/>
                  </a:rPr>
                  <a:t>Numero di addetti al piazzamento</a:t>
                </a:r>
              </a:p>
              <a:p>
                <a:pPr marL="0" indent="0">
                  <a:buNone/>
                </a:pPr>
                <a:endParaRPr lang="it-IT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406.25+406.25+406.25+20.83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=20.65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20.65</m:t>
                          </m:r>
                        </m:num>
                        <m:den>
                          <m:f>
                            <m:f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22</m:t>
                              </m:r>
                            </m:num>
                            <m:den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=2.81</m:t>
                      </m:r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2.81</m:t>
                          </m:r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0FB78090-BF20-47ED-82CC-CBB5CC0DF7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65125"/>
                <a:ext cx="10515600" cy="5849160"/>
              </a:xfrm>
              <a:blipFill>
                <a:blip r:embed="rId2"/>
                <a:stretch>
                  <a:fillRect l="-1797" t="-2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3946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6727377"/>
                  </p:ext>
                </p:extLst>
              </p:nvPr>
            </p:nvGraphicFramePr>
            <p:xfrm>
              <a:off x="2032000" y="719666"/>
              <a:ext cx="8471218" cy="413486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32082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39136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r>
                            <a:rPr lang="it-IT" sz="2800" i="0" baseline="0" noProof="0">
                              <a:latin typeface="+mn-lt"/>
                              <a:ea typeface="Cambria Math" panose="02040503050406030204" pitchFamily="18" charset="0"/>
                            </a:rPr>
                            <a:t>Costi per operatore</a:t>
                          </a:r>
                          <a:endParaRPr lang="it-IT" sz="2800" i="0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Conduttore</a:t>
                          </a:r>
                          <a:r>
                            <a:rPr lang="it-IT" sz="2800" baseline="0" noProof="0"/>
                            <a:t> d’impianto</a:t>
                          </a:r>
                          <a:r>
                            <a:rPr lang="it-IT" sz="2800" noProof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28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</a:rPr>
                                        <m:t>€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</a:rPr>
                                        <m:t>𝑜𝑝𝑒𝑟𝑎𝑡𝑜𝑟𝑒</m:t>
                                      </m:r>
                                    </m:e>
                                  </m:d>
                                  <m:r>
                                    <a:rPr lang="it-IT" sz="280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𝑎𝑛𝑛𝑜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it-IT" sz="2800" noProof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40’000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Operatore</a:t>
                          </a:r>
                          <a:r>
                            <a:rPr lang="it-IT" sz="2800" baseline="0" noProof="0"/>
                            <a:t> di tool room</a:t>
                          </a:r>
                          <a:r>
                            <a:rPr lang="it-IT" sz="2800" noProof="0"/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28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</a:rPr>
                                        <m:t>€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</a:rPr>
                                        <m:t>𝑜𝑝𝑒𝑟𝑎𝑡𝑜𝑟𝑒</m:t>
                                      </m:r>
                                    </m:e>
                                  </m:d>
                                  <m:r>
                                    <a:rPr lang="it-IT" sz="280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𝑎𝑛𝑛𝑜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it-IT" sz="2800" noProof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40’000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Responsabile d’officina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28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</a:rPr>
                                        <m:t>€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</a:rPr>
                                        <m:t>𝑜𝑝𝑒𝑟𝑎𝑡𝑜𝑟𝑒</m:t>
                                      </m:r>
                                    </m:e>
                                  </m:d>
                                  <m:r>
                                    <a:rPr lang="it-IT" sz="280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𝑎𝑛𝑛𝑜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it-IT" sz="2800" noProof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60’000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Attrezzista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28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</a:rPr>
                                        <m:t>€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</a:rPr>
                                        <m:t>𝑜𝑝𝑒𝑟𝑎𝑡𝑜𝑟𝑒</m:t>
                                      </m:r>
                                    </m:e>
                                  </m:d>
                                  <m:r>
                                    <a:rPr lang="it-IT" sz="2800" i="1" noProof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it-IT" sz="280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2800" b="0" i="1" noProof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𝑎𝑛𝑛𝑜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endParaRPr lang="it-IT" sz="2800" noProof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40’000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  <a:tr h="34544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Maggiorazione terzo turno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40%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25183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a 5">
                <a:extLst>
                  <a:ext uri="{FF2B5EF4-FFF2-40B4-BE49-F238E27FC236}">
                    <a16:creationId xmlns:a16="http://schemas.microsoft.com/office/drawing/2014/main" id="{0EA049D5-891B-4234-AEC7-FDB67E584F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6727377"/>
                  </p:ext>
                </p:extLst>
              </p:nvPr>
            </p:nvGraphicFramePr>
            <p:xfrm>
              <a:off x="2032000" y="719666"/>
              <a:ext cx="8471218" cy="413486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832082">
                      <a:extLst>
                        <a:ext uri="{9D8B030D-6E8A-4147-A177-3AD203B41FA5}">
                          <a16:colId xmlns:a16="http://schemas.microsoft.com/office/drawing/2014/main" val="3316804585"/>
                        </a:ext>
                      </a:extLst>
                    </a:gridCol>
                    <a:gridCol w="1639136">
                      <a:extLst>
                        <a:ext uri="{9D8B030D-6E8A-4147-A177-3AD203B41FA5}">
                          <a16:colId xmlns:a16="http://schemas.microsoft.com/office/drawing/2014/main" val="711600143"/>
                        </a:ext>
                      </a:extLst>
                    </a:gridCol>
                  </a:tblGrid>
                  <a:tr h="518160">
                    <a:tc gridSpan="2">
                      <a:txBody>
                        <a:bodyPr/>
                        <a:lstStyle/>
                        <a:p>
                          <a:r>
                            <a:rPr lang="it-IT" sz="2800" i="0" baseline="0" noProof="0">
                              <a:latin typeface="+mn-lt"/>
                              <a:ea typeface="Cambria Math" panose="02040503050406030204" pitchFamily="18" charset="0"/>
                            </a:rPr>
                            <a:t>Costi per operatore</a:t>
                          </a:r>
                          <a:endParaRPr lang="it-IT" sz="2800" i="0" noProof="0"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GB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36172952"/>
                      </a:ext>
                    </a:extLst>
                  </a:tr>
                  <a:tr h="7746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" t="-74803" r="-24264" b="-388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40’000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5325800"/>
                      </a:ext>
                    </a:extLst>
                  </a:tr>
                  <a:tr h="7746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" t="-173438" r="-24264" b="-2859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40’000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20012146"/>
                      </a:ext>
                    </a:extLst>
                  </a:tr>
                  <a:tr h="7746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" t="-275591" r="-24264" b="-188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60’000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62610420"/>
                      </a:ext>
                    </a:extLst>
                  </a:tr>
                  <a:tr h="7746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9" t="-375591" r="-24264" b="-88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40’000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0494785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Maggiorazione terzo turno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it-IT" sz="2800" noProof="0"/>
                            <a:t>40%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251839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47008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0FB78090-BF20-47ED-82CC-CBB5CC0DF7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1994" y="322792"/>
                <a:ext cx="10515600" cy="58491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sz="3600">
                    <a:latin typeface="+mj-lt"/>
                  </a:rPr>
                  <a:t>Costi per gli operatori</a:t>
                </a:r>
              </a:p>
              <a:p>
                <a:pPr marL="0" indent="0">
                  <a:buNone/>
                </a:pPr>
                <a:endParaRPr lang="it-IT" b="0" i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=40′000∙3.40+40′000∙3.40+60′000∙3.40+40′000∙3</m:t>
                      </m:r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=596′000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€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𝑎𝑛𝑛𝑜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it-IT" sz="3600">
                    <a:latin typeface="+mj-lt"/>
                    <a:ea typeface="Cambria Math" panose="02040503050406030204" pitchFamily="18" charset="0"/>
                  </a:rPr>
                  <a:t>Costo totale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=596′000+47′500+198′000+137′300+84′250+37′550+7′375</m:t>
                      </m:r>
                    </m:oMath>
                  </m:oMathPara>
                </a14:m>
                <a:endParaRPr lang="en-GB" sz="200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=1′107′975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["/>
                              <m:endChr m:val="]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€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𝑎𝑛𝑛𝑜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i="1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Segnaposto contenuto 2">
                <a:extLst>
                  <a:ext uri="{FF2B5EF4-FFF2-40B4-BE49-F238E27FC236}">
                    <a16:creationId xmlns:a16="http://schemas.microsoft.com/office/drawing/2014/main" id="{0FB78090-BF20-47ED-82CC-CBB5CC0DF7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1994" y="322792"/>
                <a:ext cx="10515600" cy="5849160"/>
              </a:xfrm>
              <a:blipFill>
                <a:blip r:embed="rId2"/>
                <a:stretch>
                  <a:fillRect l="-1739" t="-260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02047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- Times New Roman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06FAD49E0BA0C44A9E8DFD56CADBD6F" ma:contentTypeVersion="0" ma:contentTypeDescription="Creare un nuovo documento." ma:contentTypeScope="" ma:versionID="41d1d39d35a97e39e8ce1604bbf755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4353eee5fe7ae2043b0d0bd8d80189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67845B-3D62-458D-B382-FA253F8FCC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66F9253-E03D-40F3-8B47-4724F34C0D0E}"/>
</file>

<file path=customXml/itemProps3.xml><?xml version="1.0" encoding="utf-8"?>
<ds:datastoreItem xmlns:ds="http://schemas.openxmlformats.org/officeDocument/2006/customXml" ds:itemID="{71C3B9EC-10BF-4FED-9300-08DB9040F2C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Titoli diapositive</vt:lpstr>
      </vt:variant>
      <vt:variant>
        <vt:i4>20</vt:i4>
      </vt:variant>
    </vt:vector>
  </HeadingPairs>
  <TitlesOfParts>
    <vt:vector size="22" baseType="lpstr">
      <vt:lpstr>Tema di Office</vt:lpstr>
      <vt:lpstr>1_Tema di Office</vt:lpstr>
      <vt:lpstr>Esercizio dimensionamento FMS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ELIA BALUGANI</dc:creator>
  <cp:revision>6</cp:revision>
  <dcterms:created xsi:type="dcterms:W3CDTF">2019-10-24T14:10:01Z</dcterms:created>
  <dcterms:modified xsi:type="dcterms:W3CDTF">2024-09-05T18:11:49Z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0x010100506FAD49E0BA0C44A9E8DFD56CADBD6F</vt:lpwstr>
  </property>
</Properties>
</file>