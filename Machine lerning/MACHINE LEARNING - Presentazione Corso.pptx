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6" r:id="rId1"/>
  </p:sldMasterIdLst>
  <p:notesMasterIdLst>
    <p:notesMasterId r:id="rId13"/>
  </p:notesMasterIdLst>
  <p:sldIdLst>
    <p:sldId id="256" r:id="rId2"/>
    <p:sldId id="257" r:id="rId3"/>
    <p:sldId id="258" r:id="rId4"/>
    <p:sldId id="365" r:id="rId5"/>
    <p:sldId id="259" r:id="rId6"/>
    <p:sldId id="260" r:id="rId7"/>
    <p:sldId id="261" r:id="rId8"/>
    <p:sldId id="262" r:id="rId9"/>
    <p:sldId id="391" r:id="rId10"/>
    <p:sldId id="366" r:id="rId11"/>
    <p:sldId id="367" r:id="rId1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98528B-32EE-6B26-59B6-FA2DAE882A1A}" v="6567" dt="2024-02-24T17:21:58.919"/>
    <p1510:client id="{7CFFF307-010B-871C-15EA-0BB1BE687FDA}" v="126" dt="2024-02-23T14:08:27.406"/>
    <p1510:client id="{ABA2C249-9A88-1EA0-CCBD-66C1E7B08D1D}" v="4" dt="2024-02-23T13:34:57.128"/>
    <p1510:client id="{F9E04F03-EDCB-3DCD-75AA-7FA9A5A84FDF}" v="723" dt="2024-02-25T11:17:55.458"/>
    <p1510:client id="{FD114096-F4B5-D485-EFC5-4E3AE9B5ECF9}" v="2769" dt="2024-02-23T17:46:56.276"/>
  </p1510:revLst>
</p1510:revInfo>
</file>

<file path=ppt/tableStyles.xml><?xml version="1.0" encoding="utf-8"?>
<a:tblStyleLst xmlns:a="http://schemas.openxmlformats.org/drawingml/2006/main" def="{46A5D18C-680E-4AC9-8A75-1B9BE71A4CCF}">
  <a:tblStyle styleId="{46A5D18C-680E-4AC9-8A75-1B9BE71A4CC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1195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226aca03c_1_34:notes"/>
          <p:cNvSpPr txBox="1">
            <a:spLocks noGrp="1"/>
          </p:cNvSpPr>
          <p:nvPr>
            <p:ph type="body" idx="1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gc226aca03c_1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c226aca03c_1_44:notes"/>
          <p:cNvSpPr txBox="1">
            <a:spLocks noGrp="1"/>
          </p:cNvSpPr>
          <p:nvPr>
            <p:ph type="body" idx="1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gc226aca03c_1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c226aca03c_1_44:notes"/>
          <p:cNvSpPr txBox="1">
            <a:spLocks noGrp="1"/>
          </p:cNvSpPr>
          <p:nvPr>
            <p:ph type="body" idx="1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gc226aca03c_1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713033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c226aca03c_1_49:notes"/>
          <p:cNvSpPr txBox="1">
            <a:spLocks noGrp="1"/>
          </p:cNvSpPr>
          <p:nvPr>
            <p:ph type="body" idx="1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gc226aca03c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c226aca03c_1_62:notes"/>
          <p:cNvSpPr txBox="1">
            <a:spLocks noGrp="1"/>
          </p:cNvSpPr>
          <p:nvPr>
            <p:ph type="body" idx="1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gc226aca03c_1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c226aca03c_1_71:notes"/>
          <p:cNvSpPr txBox="1">
            <a:spLocks noGrp="1"/>
          </p:cNvSpPr>
          <p:nvPr>
            <p:ph type="body" idx="1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gc226aca03c_1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c226aca03c_1_88:notes"/>
          <p:cNvSpPr txBox="1">
            <a:spLocks noGrp="1"/>
          </p:cNvSpPr>
          <p:nvPr>
            <p:ph type="body" idx="1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gc226aca03c_1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EB4C87C0-8F0D-AE6D-A092-681D2E168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c226aca03c_1_88:notes">
            <a:extLst>
              <a:ext uri="{FF2B5EF4-FFF2-40B4-BE49-F238E27FC236}">
                <a16:creationId xmlns:a16="http://schemas.microsoft.com/office/drawing/2014/main" id="{6A9E36E5-7D78-EA01-9C7F-0E713608B8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gc226aca03c_1_88:notes">
            <a:extLst>
              <a:ext uri="{FF2B5EF4-FFF2-40B4-BE49-F238E27FC236}">
                <a16:creationId xmlns:a16="http://schemas.microsoft.com/office/drawing/2014/main" id="{B0DF2265-06CC-9C45-607C-75B7B08B22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216407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c226aca03c_1_88:notes"/>
          <p:cNvSpPr txBox="1">
            <a:spLocks noGrp="1"/>
          </p:cNvSpPr>
          <p:nvPr>
            <p:ph type="body" idx="1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gc226aca03c_1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406824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c226aca03c_1_88:notes"/>
          <p:cNvSpPr txBox="1">
            <a:spLocks noGrp="1"/>
          </p:cNvSpPr>
          <p:nvPr>
            <p:ph type="body" idx="1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gc226aca03c_1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217561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Layout personalizzato">
  <p:cSld name="Layout personalizzato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239845" y="3959653"/>
            <a:ext cx="2707853" cy="8393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1" cy="3691637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"/>
          <p:cNvSpPr txBox="1">
            <a:spLocks noGrp="1"/>
          </p:cNvSpPr>
          <p:nvPr>
            <p:ph type="title"/>
          </p:nvPr>
        </p:nvSpPr>
        <p:spPr>
          <a:xfrm>
            <a:off x="143508" y="3867894"/>
            <a:ext cx="5994600" cy="10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Clr>
                <a:srgbClr val="D40000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D4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ayout personalizzato">
  <p:cSld name="1_Layout personalizzato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251520" y="137161"/>
            <a:ext cx="7290900" cy="8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D40000"/>
              </a:buClr>
              <a:buSzPts val="2400"/>
              <a:buFont typeface="Calibri"/>
              <a:buNone/>
              <a:defRPr sz="2400" b="1" i="0" u="none" strike="noStrike" cap="none">
                <a:solidFill>
                  <a:srgbClr val="D4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251222" y="1167594"/>
            <a:ext cx="8479500" cy="3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04800" algn="l" rtl="0"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04800" algn="l" rtl="0"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04800" algn="l" rtl="0"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04800" algn="l" rtl="0"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Layout personalizzato">
  <p:cSld name="2_Layout personalizzato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9001124" y="3634740"/>
            <a:ext cx="142800" cy="1508700"/>
          </a:xfrm>
          <a:prstGeom prst="rect">
            <a:avLst/>
          </a:prstGeom>
          <a:solidFill>
            <a:srgbClr val="D4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9001124" y="0"/>
            <a:ext cx="142800" cy="36348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251520" y="137161"/>
            <a:ext cx="8424900" cy="8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D40000"/>
              </a:buClr>
              <a:buSzPts val="2400"/>
              <a:buFont typeface="Calibri"/>
              <a:buNone/>
              <a:defRPr sz="2400" b="1" i="0" u="none" strike="noStrike" cap="none">
                <a:solidFill>
                  <a:srgbClr val="D4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pic>
        <p:nvPicPr>
          <p:cNvPr id="29" name="Google Shape;29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013834" y="76200"/>
            <a:ext cx="1911091" cy="59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297856" y="499762"/>
            <a:ext cx="6170295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>
                <a:solidFill>
                  <a:srgbClr val="EE6C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979612" y="2272462"/>
            <a:ext cx="8007350" cy="24022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>
            <a:spLocks noGrp="1"/>
          </p:cNvSpPr>
          <p:nvPr>
            <p:ph type="title"/>
          </p:nvPr>
        </p:nvSpPr>
        <p:spPr>
          <a:xfrm>
            <a:off x="297856" y="499762"/>
            <a:ext cx="6170295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>
                <a:solidFill>
                  <a:srgbClr val="EE6C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 txBox="1">
            <a:spLocks noGrp="1"/>
          </p:cNvSpPr>
          <p:nvPr>
            <p:ph type="title"/>
          </p:nvPr>
        </p:nvSpPr>
        <p:spPr>
          <a:xfrm>
            <a:off x="297856" y="499762"/>
            <a:ext cx="6170295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>
                <a:solidFill>
                  <a:srgbClr val="EE6C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1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body" idx="2"/>
          </p:nvPr>
        </p:nvSpPr>
        <p:spPr>
          <a:xfrm>
            <a:off x="5044233" y="1410940"/>
            <a:ext cx="4007484" cy="32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>
                <a:solidFill>
                  <a:srgbClr val="685D4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9001124" y="2026"/>
            <a:ext cx="142800" cy="1028700"/>
          </a:xfrm>
          <a:prstGeom prst="rect">
            <a:avLst/>
          </a:prstGeom>
          <a:solidFill>
            <a:srgbClr val="D4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1"/>
          <p:cNvSpPr/>
          <p:nvPr/>
        </p:nvSpPr>
        <p:spPr>
          <a:xfrm>
            <a:off x="9001124" y="1028700"/>
            <a:ext cx="142800" cy="4114800"/>
          </a:xfrm>
          <a:prstGeom prst="rect">
            <a:avLst/>
          </a:prstGeom>
          <a:solidFill>
            <a:srgbClr val="3F3F3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  <p:pic>
        <p:nvPicPr>
          <p:cNvPr id="11" name="Google Shape;11;p1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728550" y="99776"/>
            <a:ext cx="2196375" cy="6808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enver.sangineto@unimore.it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archive.ics.uci.edu/ml/index.php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43508" y="3867894"/>
            <a:ext cx="5994600" cy="10260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Presentazione Corso</a:t>
            </a:r>
            <a:br>
              <a:rPr lang="it-IT" dirty="0"/>
            </a:br>
            <a:r>
              <a:rPr lang="it-IT" sz="2000" dirty="0"/>
              <a:t>Enver Sangineto</a:t>
            </a:r>
            <a:r>
              <a:rPr lang="it" sz="2000" dirty="0"/>
              <a:t> </a:t>
            </a:r>
            <a:endParaRPr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>
            <a:spLocks noGrp="1"/>
          </p:cNvSpPr>
          <p:nvPr>
            <p:ph type="title"/>
          </p:nvPr>
        </p:nvSpPr>
        <p:spPr>
          <a:xfrm>
            <a:off x="251520" y="137161"/>
            <a:ext cx="7290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Informazioni sul corso</a:t>
            </a:r>
            <a:endParaRPr/>
          </a:p>
        </p:txBody>
      </p:sp>
      <p:pic>
        <p:nvPicPr>
          <p:cNvPr id="68" name="Google Shape;68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28862" y="1152425"/>
            <a:ext cx="3686274" cy="3686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>
            <a:spLocks noGrp="1"/>
          </p:cNvSpPr>
          <p:nvPr>
            <p:ph type="title"/>
          </p:nvPr>
        </p:nvSpPr>
        <p:spPr>
          <a:xfrm>
            <a:off x="251520" y="137161"/>
            <a:ext cx="7290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dirty="0"/>
              <a:t>Docente</a:t>
            </a:r>
            <a:endParaRPr dirty="0"/>
          </a:p>
        </p:txBody>
      </p:sp>
      <p:sp>
        <p:nvSpPr>
          <p:cNvPr id="74" name="Google Shape;74;p12"/>
          <p:cNvSpPr txBox="1"/>
          <p:nvPr/>
        </p:nvSpPr>
        <p:spPr>
          <a:xfrm>
            <a:off x="505993" y="1297946"/>
            <a:ext cx="7637882" cy="1262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R="5080" lvl="0" algn="l" rtl="0">
              <a:lnSpc>
                <a:spcPct val="116100"/>
              </a:lnSpc>
              <a:spcBef>
                <a:spcPts val="0"/>
              </a:spcBef>
              <a:spcAft>
                <a:spcPts val="0"/>
              </a:spcAft>
            </a:pPr>
            <a:r>
              <a:rPr lang="it-IT" b="1" dirty="0"/>
              <a:t>Enver Sangineto</a:t>
            </a:r>
            <a:br>
              <a:rPr lang="it-IT" dirty="0"/>
            </a:br>
            <a:r>
              <a:rPr lang="it-IT" dirty="0"/>
              <a:t>Dipartimento di Ingegneria «Enzo Ferrari», Università di Modena e Reggio Emilia</a:t>
            </a:r>
            <a:br>
              <a:rPr lang="it-IT" dirty="0"/>
            </a:br>
            <a:r>
              <a:rPr lang="it-IT" dirty="0"/>
              <a:t>e-mail: </a:t>
            </a:r>
            <a:r>
              <a:rPr lang="it-IT" dirty="0">
                <a:hlinkClick r:id="rId3"/>
              </a:rPr>
              <a:t>enver.sangineto@unimore.it</a:t>
            </a:r>
            <a:r>
              <a:rPr lang="it-IT" dirty="0"/>
              <a:t> </a:t>
            </a:r>
            <a:br>
              <a:rPr lang="it-IT" dirty="0"/>
            </a:br>
            <a:r>
              <a:rPr lang="it-IT" dirty="0"/>
              <a:t>Telefono: 0592056123</a:t>
            </a:r>
            <a:br>
              <a:rPr lang="it-IT" dirty="0"/>
            </a:br>
            <a:r>
              <a:rPr lang="it-IT" dirty="0"/>
              <a:t>Ricevimento studenti: prenotabile tramite email</a:t>
            </a:r>
            <a:endParaRPr lang="en-GB" dirty="0">
              <a:latin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>
            <a:spLocks noGrp="1"/>
          </p:cNvSpPr>
          <p:nvPr>
            <p:ph type="title"/>
          </p:nvPr>
        </p:nvSpPr>
        <p:spPr>
          <a:xfrm>
            <a:off x="251520" y="137161"/>
            <a:ext cx="7290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Piazzamento</a:t>
            </a:r>
            <a:endParaRPr/>
          </a:p>
        </p:txBody>
      </p:sp>
      <p:sp>
        <p:nvSpPr>
          <p:cNvPr id="74" name="Google Shape;74;p12"/>
          <p:cNvSpPr txBox="1"/>
          <p:nvPr/>
        </p:nvSpPr>
        <p:spPr>
          <a:xfrm>
            <a:off x="505993" y="1297948"/>
            <a:ext cx="8209200" cy="3024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R="5080">
              <a:lnSpc>
                <a:spcPct val="116100"/>
              </a:lnSpc>
            </a:pPr>
            <a:r>
              <a:rPr lang="it" dirty="0">
                <a:latin typeface="Calibri"/>
                <a:ea typeface="Calibri"/>
                <a:cs typeface="Calibri"/>
                <a:sym typeface="Calibri"/>
              </a:rPr>
              <a:t>Questo corso di Fondamenti di Machine Learning è un' introduzione ai principi base del Machine Learning, con un taglio sia pratico che teorico.</a:t>
            </a:r>
          </a:p>
          <a:p>
            <a:pPr marL="0" marR="5080" lvl="0" indent="0" algn="l" rtl="0">
              <a:lnSpc>
                <a:spcPct val="1161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latin typeface="Calibri"/>
              <a:ea typeface="Calibri"/>
              <a:cs typeface="Calibri"/>
              <a:sym typeface="Calibri"/>
            </a:endParaRPr>
          </a:p>
          <a:p>
            <a:pPr marL="0" marR="5080" lvl="0" indent="0" algn="l" rtl="0">
              <a:lnSpc>
                <a:spcPct val="116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alibri"/>
                <a:ea typeface="Calibri"/>
                <a:cs typeface="Calibri"/>
                <a:sym typeface="Calibri"/>
              </a:rPr>
              <a:t>G</a:t>
            </a:r>
            <a:r>
              <a:rPr lang="it" dirty="0">
                <a:latin typeface="Calibri"/>
                <a:ea typeface="Calibri"/>
                <a:cs typeface="Calibri"/>
                <a:sym typeface="Calibri"/>
              </a:rPr>
              <a:t>li obiettivi sono:</a:t>
            </a:r>
          </a:p>
          <a:p>
            <a:pPr marL="348615" marR="5080" lvl="0" indent="-336550" algn="l" rtl="0">
              <a:lnSpc>
                <a:spcPct val="1161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it" dirty="0">
                <a:latin typeface="Calibri"/>
                <a:ea typeface="Calibri"/>
                <a:cs typeface="Calibri"/>
                <a:sym typeface="Calibri"/>
              </a:rPr>
              <a:t>Acquisire le conoscenze base del Machine Learning</a:t>
            </a:r>
          </a:p>
          <a:p>
            <a:pPr marL="348615" marR="5080" lvl="0" indent="-336550" algn="l" rtl="0">
              <a:lnSpc>
                <a:spcPct val="1161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it" dirty="0">
                <a:latin typeface="Calibri"/>
                <a:ea typeface="Calibri"/>
                <a:cs typeface="Calibri"/>
                <a:sym typeface="Calibri"/>
              </a:rPr>
              <a:t>Iniziare a risolvere autonomamente problemi utilizzando tecniche di questa disciplina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0" marR="5080" lvl="0" indent="0" algn="l" rtl="0">
              <a:lnSpc>
                <a:spcPct val="1161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12065" marR="5080" lvl="0" algn="l" rtl="0">
              <a:lnSpc>
                <a:spcPct val="116100"/>
              </a:lnSpc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it" dirty="0">
                <a:latin typeface="Calibri"/>
                <a:ea typeface="Calibri"/>
                <a:cs typeface="Calibri"/>
                <a:sym typeface="Calibri"/>
              </a:rPr>
              <a:t>I prerequisiti</a:t>
            </a:r>
            <a:r>
              <a:rPr lang="it" sz="1400" dirty="0">
                <a:latin typeface="Calibri"/>
                <a:ea typeface="Calibri"/>
                <a:cs typeface="Calibri"/>
                <a:sym typeface="Calibri"/>
              </a:rPr>
              <a:t> per comprendere i contenuti del corso </a:t>
            </a:r>
            <a:r>
              <a:rPr lang="it" dirty="0">
                <a:latin typeface="Calibri"/>
                <a:ea typeface="Calibri"/>
                <a:cs typeface="Calibri"/>
                <a:sym typeface="Calibri"/>
              </a:rPr>
              <a:t>sono</a:t>
            </a:r>
            <a:r>
              <a:rPr lang="it" sz="1400" dirty="0">
                <a:latin typeface="Calibri"/>
                <a:ea typeface="Calibri"/>
                <a:cs typeface="Calibri"/>
                <a:sym typeface="Calibri"/>
              </a:rPr>
              <a:t>:</a:t>
            </a:r>
            <a:endParaRPr sz="1400" dirty="0"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17500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1400"/>
              <a:buFont typeface="Calibri"/>
              <a:buChar char="○"/>
            </a:pPr>
            <a:r>
              <a:rPr lang="it" sz="1400" dirty="0">
                <a:latin typeface="Calibri"/>
                <a:ea typeface="Calibri"/>
                <a:cs typeface="Calibri"/>
                <a:sym typeface="Calibri"/>
              </a:rPr>
              <a:t>Analisi matematica</a:t>
            </a:r>
          </a:p>
          <a:p>
            <a:pPr marL="914400" marR="0" lvl="1" indent="-317500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1400"/>
              <a:buFont typeface="Calibri"/>
              <a:buChar char="○"/>
            </a:pPr>
            <a:r>
              <a:rPr lang="it" dirty="0"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it" sz="1400" dirty="0">
                <a:latin typeface="Calibri"/>
                <a:ea typeface="Calibri"/>
                <a:cs typeface="Calibri"/>
                <a:sym typeface="Calibri"/>
              </a:rPr>
              <a:t>lementi di </a:t>
            </a:r>
            <a:r>
              <a:rPr lang="it" dirty="0"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it" sz="1400" dirty="0">
                <a:latin typeface="Calibri"/>
                <a:ea typeface="Calibri"/>
                <a:cs typeface="Calibri"/>
                <a:sym typeface="Calibri"/>
              </a:rPr>
              <a:t>lgebra </a:t>
            </a:r>
            <a:r>
              <a:rPr lang="it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Lineare</a:t>
            </a:r>
            <a:endParaRPr sz="1400" dirty="0"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17500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1400"/>
              <a:buFont typeface="Calibri"/>
              <a:buChar char="○"/>
            </a:pPr>
            <a:r>
              <a:rPr lang="it" sz="1400" dirty="0">
                <a:latin typeface="Calibri"/>
                <a:ea typeface="Calibri"/>
                <a:cs typeface="Calibri"/>
                <a:sym typeface="Calibri"/>
              </a:rPr>
              <a:t>Qualche nozione di </a:t>
            </a:r>
            <a:r>
              <a:rPr lang="it" dirty="0">
                <a:latin typeface="Calibri"/>
                <a:ea typeface="Calibri"/>
                <a:cs typeface="Calibri"/>
                <a:sym typeface="Calibri"/>
              </a:rPr>
              <a:t>Statistica</a:t>
            </a:r>
            <a:r>
              <a:rPr lang="it" sz="1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it" dirty="0"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it" sz="1400" dirty="0">
                <a:latin typeface="Calibri"/>
                <a:ea typeface="Calibri"/>
                <a:cs typeface="Calibri"/>
                <a:sym typeface="Calibri"/>
              </a:rPr>
              <a:t> di Probabilità</a:t>
            </a:r>
            <a:endParaRPr lang="it-IT" sz="1400" dirty="0">
              <a:latin typeface="Calibri"/>
              <a:ea typeface="Calibri"/>
              <a:cs typeface="Calibri"/>
              <a:sym typeface="Calibri"/>
            </a:endParaRPr>
          </a:p>
          <a:p>
            <a:pPr marL="348615" marR="33655" lvl="0" indent="-336550" algn="l" rtl="0">
              <a:lnSpc>
                <a:spcPct val="1161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it-IT" sz="1400" dirty="0">
                <a:latin typeface="Calibri"/>
                <a:ea typeface="Calibri"/>
                <a:cs typeface="Calibri"/>
                <a:sym typeface="Calibri"/>
              </a:rPr>
              <a:t>Gli elementi matematici necessari per la comprensione del corso verranno (</a:t>
            </a:r>
            <a:r>
              <a:rPr lang="it-IT" sz="1400" dirty="0" err="1">
                <a:latin typeface="Calibri"/>
                <a:ea typeface="Calibri"/>
                <a:cs typeface="Calibri"/>
                <a:sym typeface="Calibri"/>
              </a:rPr>
              <a:t>ri</a:t>
            </a:r>
            <a:r>
              <a:rPr lang="it-IT" sz="1400" dirty="0">
                <a:latin typeface="Calibri"/>
                <a:ea typeface="Calibri"/>
                <a:cs typeface="Calibri"/>
                <a:sym typeface="Calibri"/>
              </a:rPr>
              <a:t>-) presentati durante il corso</a:t>
            </a:r>
          </a:p>
        </p:txBody>
      </p:sp>
    </p:spTree>
    <p:extLst>
      <p:ext uri="{BB962C8B-B14F-4D97-AF65-F5344CB8AC3E}">
        <p14:creationId xmlns:p14="http://schemas.microsoft.com/office/powerpoint/2010/main" val="486029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>
            <a:spLocks noGrp="1"/>
          </p:cNvSpPr>
          <p:nvPr>
            <p:ph type="title"/>
          </p:nvPr>
        </p:nvSpPr>
        <p:spPr>
          <a:xfrm>
            <a:off x="251520" y="137161"/>
            <a:ext cx="7290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Testi di riferimento</a:t>
            </a:r>
            <a:endParaRPr/>
          </a:p>
        </p:txBody>
      </p:sp>
      <p:sp>
        <p:nvSpPr>
          <p:cNvPr id="80" name="Google Shape;80;p13"/>
          <p:cNvSpPr txBox="1"/>
          <p:nvPr/>
        </p:nvSpPr>
        <p:spPr>
          <a:xfrm>
            <a:off x="246631" y="890241"/>
            <a:ext cx="6000600" cy="3410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 dirty="0">
                <a:latin typeface="Calibri"/>
                <a:ea typeface="Calibri"/>
                <a:cs typeface="Calibri"/>
                <a:sym typeface="Calibri"/>
              </a:rPr>
              <a:t>Materiale utile per l'approfondimento degli argomenti del corso:</a:t>
            </a:r>
            <a:endParaRPr sz="1200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None/>
            </a:pPr>
            <a:endParaRPr sz="1200" dirty="0">
              <a:latin typeface="Calibri"/>
              <a:ea typeface="Calibri"/>
              <a:cs typeface="Calibri"/>
              <a:sym typeface="Calibri"/>
            </a:endParaRPr>
          </a:p>
          <a:p>
            <a:pPr marL="469900" marR="0" lvl="0" indent="-3295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it" sz="1200" b="1" dirty="0">
                <a:latin typeface="Calibri"/>
                <a:ea typeface="Calibri"/>
                <a:cs typeface="Calibri"/>
                <a:sym typeface="Calibri"/>
              </a:rPr>
              <a:t>A tu per tu col Machine Learning. L'incredibile viaggio di un developer nel favoloso mondo della Data Science</a:t>
            </a:r>
            <a:r>
              <a:rPr lang="it" sz="1200" dirty="0">
                <a:latin typeface="Calibri"/>
                <a:ea typeface="Calibri"/>
                <a:cs typeface="Calibri"/>
                <a:sym typeface="Calibri"/>
              </a:rPr>
              <a:t>, Alessandro Cucci, The Dot Company, 2017 </a:t>
            </a:r>
            <a:endParaRPr sz="1200" dirty="0">
              <a:latin typeface="Calibri"/>
              <a:ea typeface="Calibri"/>
              <a:cs typeface="Calibri"/>
              <a:sym typeface="Calibri"/>
            </a:endParaRPr>
          </a:p>
          <a:p>
            <a:pPr marL="469900" marR="0" lvl="0" indent="-3295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t" sz="1200" b="1" dirty="0">
                <a:latin typeface="Calibri"/>
                <a:ea typeface="Calibri"/>
                <a:cs typeface="Calibri"/>
                <a:sym typeface="Calibri"/>
              </a:rPr>
              <a:t>Dispense</a:t>
            </a:r>
            <a:r>
              <a:rPr lang="it" sz="1200" dirty="0">
                <a:latin typeface="Calibri"/>
                <a:ea typeface="Calibri"/>
                <a:cs typeface="Calibri"/>
                <a:sym typeface="Calibri"/>
              </a:rPr>
              <a:t> a cura del docente</a:t>
            </a:r>
          </a:p>
          <a:p>
            <a:pPr marL="469900" marR="0" lvl="0" indent="-3295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t-IT" sz="1200" b="1" dirty="0"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it" sz="1200" b="1" dirty="0">
                <a:latin typeface="Calibri"/>
                <a:ea typeface="Calibri"/>
                <a:cs typeface="Calibri"/>
                <a:sym typeface="Calibri"/>
              </a:rPr>
              <a:t>lides e videoregistrazioni</a:t>
            </a:r>
            <a:r>
              <a:rPr lang="it" sz="1200" dirty="0">
                <a:latin typeface="Calibri"/>
                <a:ea typeface="Calibri"/>
                <a:cs typeface="Calibri"/>
                <a:sym typeface="Calibri"/>
              </a:rPr>
              <a:t> delle lezioni (accessibili tramite Moodle)</a:t>
            </a:r>
            <a:endParaRPr sz="1200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>
                <a:srgbClr val="685D46"/>
              </a:buClr>
              <a:buSzPts val="1500"/>
              <a:buFont typeface="Arial"/>
              <a:buNone/>
            </a:pPr>
            <a:endParaRPr sz="1200" dirty="0">
              <a:latin typeface="Calibri"/>
              <a:ea typeface="Calibri"/>
              <a:cs typeface="Calibri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it" sz="1200" dirty="0">
                <a:latin typeface="Calibri"/>
                <a:ea typeface="Calibri"/>
                <a:cs typeface="Calibri"/>
                <a:sym typeface="Calibri"/>
              </a:rPr>
              <a:t>Altri testi interessanti:</a:t>
            </a:r>
            <a:endParaRPr sz="1200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None/>
            </a:pPr>
            <a:endParaRPr sz="1200"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73025" lvl="0" indent="-317500" algn="l" rtl="0">
              <a:lnSpc>
                <a:spcPct val="1181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t-IT" sz="1200" b="1" dirty="0"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it" sz="1200" b="1" dirty="0">
                <a:latin typeface="Calibri"/>
                <a:ea typeface="Calibri"/>
                <a:cs typeface="Calibri"/>
                <a:sym typeface="Calibri"/>
              </a:rPr>
              <a:t>lice’s adventures in a differentiable wonderland</a:t>
            </a:r>
            <a:r>
              <a:rPr lang="it" sz="1200" dirty="0">
                <a:latin typeface="Calibri"/>
                <a:ea typeface="Calibri"/>
                <a:cs typeface="Calibri"/>
                <a:sym typeface="Calibri"/>
              </a:rPr>
              <a:t>, S. Scardopane, vol.1</a:t>
            </a:r>
          </a:p>
          <a:p>
            <a:pPr marL="457200" marR="73025" indent="-317500">
              <a:lnSpc>
                <a:spcPct val="118100"/>
              </a:lnSpc>
              <a:buSzPts val="1400"/>
              <a:buFont typeface="Arial"/>
              <a:buChar char="●"/>
            </a:pPr>
            <a:r>
              <a:rPr lang="en-US" sz="1200" b="1" dirty="0">
                <a:latin typeface="Calibri"/>
                <a:ea typeface="Calibri"/>
                <a:cs typeface="Calibri"/>
                <a:sym typeface="Calibri"/>
              </a:rPr>
              <a:t>Pattern Classification, second edition,</a:t>
            </a:r>
            <a:r>
              <a:rPr lang="en-US" sz="1200" dirty="0">
                <a:latin typeface="Calibri"/>
                <a:ea typeface="Calibri"/>
                <a:cs typeface="Calibri"/>
                <a:sym typeface="Calibri"/>
              </a:rPr>
              <a:t> R. O. Duda, P. E. Hart, D. G. Stork, Wiley-</a:t>
            </a:r>
            <a:r>
              <a:rPr lang="en-US" sz="1200" dirty="0" err="1">
                <a:latin typeface="Calibri"/>
                <a:ea typeface="Calibri"/>
                <a:cs typeface="Calibri"/>
                <a:sym typeface="Calibri"/>
              </a:rPr>
              <a:t>Interscience</a:t>
            </a:r>
            <a:r>
              <a:rPr lang="en-US" sz="1200" dirty="0">
                <a:latin typeface="Calibri"/>
                <a:ea typeface="Calibri"/>
                <a:cs typeface="Calibri"/>
                <a:sym typeface="Calibri"/>
              </a:rPr>
              <a:t>, 2000</a:t>
            </a:r>
            <a:endParaRPr lang="it" sz="1200" b="1"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73025" lvl="0" indent="-317500" algn="l" rtl="0">
              <a:lnSpc>
                <a:spcPct val="1181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t" sz="1200" b="1" dirty="0">
                <a:latin typeface="Calibri"/>
                <a:ea typeface="Calibri"/>
                <a:cs typeface="Calibri"/>
                <a:sym typeface="Calibri"/>
              </a:rPr>
              <a:t>An Introduction to Statistical Learning, with application in R</a:t>
            </a:r>
            <a:r>
              <a:rPr lang="it" sz="1200" dirty="0">
                <a:latin typeface="Calibri"/>
                <a:ea typeface="Calibri"/>
                <a:cs typeface="Calibri"/>
                <a:sym typeface="Calibri"/>
              </a:rPr>
              <a:t>, G.  James, D. Witten, T. Hastie, R. Tibshirani, Springer, 2013 (free online  version, 6th printing)</a:t>
            </a:r>
            <a:endParaRPr sz="1200" dirty="0">
              <a:latin typeface="Calibri"/>
              <a:ea typeface="Calibri"/>
              <a:cs typeface="Calibri"/>
              <a:sym typeface="Calibri"/>
            </a:endParaRPr>
          </a:p>
          <a:p>
            <a:pPr marL="469900" marR="33655" lvl="0" indent="-329565" algn="l" rtl="0">
              <a:lnSpc>
                <a:spcPct val="1181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it" sz="1200" b="1" dirty="0">
                <a:latin typeface="Calibri"/>
                <a:ea typeface="Calibri"/>
                <a:cs typeface="Calibri"/>
                <a:sym typeface="Calibri"/>
              </a:rPr>
              <a:t>Bayesian Reasoning and Machine Learning</a:t>
            </a:r>
            <a:r>
              <a:rPr lang="it" sz="1200" dirty="0">
                <a:latin typeface="Calibri"/>
                <a:ea typeface="Calibri"/>
                <a:cs typeface="Calibri"/>
                <a:sym typeface="Calibri"/>
              </a:rPr>
              <a:t>, D: Barber, Cambridge  University Press, 2012 (free online version)</a:t>
            </a:r>
            <a:endParaRPr sz="1200" dirty="0">
              <a:latin typeface="Calibri"/>
              <a:ea typeface="Calibri"/>
              <a:cs typeface="Calibri"/>
              <a:sym typeface="Calibri"/>
            </a:endParaRPr>
          </a:p>
          <a:p>
            <a:pPr marL="469900" marR="0" lvl="0" indent="-329565" algn="l" rtl="0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it" sz="1200" b="1" dirty="0">
                <a:latin typeface="Calibri"/>
                <a:ea typeface="Calibri"/>
                <a:cs typeface="Calibri"/>
                <a:sym typeface="Calibri"/>
              </a:rPr>
              <a:t>Python Machine Learning</a:t>
            </a:r>
            <a:r>
              <a:rPr lang="it" sz="1200" dirty="0">
                <a:latin typeface="Calibri"/>
                <a:ea typeface="Calibri"/>
                <a:cs typeface="Calibri"/>
                <a:sym typeface="Calibri"/>
              </a:rPr>
              <a:t>, S. Raschka, PACKT Publishing</a:t>
            </a:r>
          </a:p>
        </p:txBody>
      </p:sp>
      <p:pic>
        <p:nvPicPr>
          <p:cNvPr id="81" name="Google Shape;81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447368">
            <a:off x="6385250" y="2771800"/>
            <a:ext cx="1499126" cy="2224852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42201">
            <a:off x="7225062" y="1200376"/>
            <a:ext cx="1580852" cy="222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>
            <a:spLocks noGrp="1"/>
          </p:cNvSpPr>
          <p:nvPr>
            <p:ph type="title"/>
          </p:nvPr>
        </p:nvSpPr>
        <p:spPr>
          <a:xfrm>
            <a:off x="251520" y="137161"/>
            <a:ext cx="7290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Risorse per la programmazione</a:t>
            </a:r>
            <a:endParaRPr/>
          </a:p>
        </p:txBody>
      </p:sp>
      <p:pic>
        <p:nvPicPr>
          <p:cNvPr id="88" name="Google Shape;88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24472" y="1021158"/>
            <a:ext cx="3987050" cy="122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3400" y="3201974"/>
            <a:ext cx="2575500" cy="1158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25450" y="3059009"/>
            <a:ext cx="2575500" cy="144496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76707" y="3022862"/>
            <a:ext cx="2852643" cy="151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>
            <a:spLocks noGrp="1"/>
          </p:cNvSpPr>
          <p:nvPr>
            <p:ph type="title"/>
          </p:nvPr>
        </p:nvSpPr>
        <p:spPr>
          <a:xfrm>
            <a:off x="251520" y="137161"/>
            <a:ext cx="7290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Risorse Online</a:t>
            </a:r>
            <a:endParaRPr/>
          </a:p>
        </p:txBody>
      </p:sp>
      <p:pic>
        <p:nvPicPr>
          <p:cNvPr id="97" name="Google Shape;97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1804" y="1852550"/>
            <a:ext cx="3291341" cy="304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60295" y="1852550"/>
            <a:ext cx="2005960" cy="304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80350" y="2102137"/>
            <a:ext cx="2548825" cy="254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>
            <a:spLocks noGrp="1"/>
          </p:cNvSpPr>
          <p:nvPr>
            <p:ph type="title"/>
          </p:nvPr>
        </p:nvSpPr>
        <p:spPr>
          <a:xfrm>
            <a:off x="251520" y="137161"/>
            <a:ext cx="7290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C</a:t>
            </a:r>
            <a:r>
              <a:rPr lang="it" dirty="0"/>
              <a:t>alendario delle lezioni</a:t>
            </a:r>
            <a:endParaRPr dirty="0"/>
          </a:p>
        </p:txBody>
      </p:sp>
      <p:sp>
        <p:nvSpPr>
          <p:cNvPr id="106" name="Google Shape;106;p16"/>
          <p:cNvSpPr txBox="1"/>
          <p:nvPr/>
        </p:nvSpPr>
        <p:spPr>
          <a:xfrm>
            <a:off x="251520" y="4347184"/>
            <a:ext cx="8540430" cy="443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/>
            <a:r>
              <a:rPr lang="it-IT" dirty="0">
                <a:latin typeface="Calibri"/>
                <a:ea typeface="Calibri"/>
                <a:cs typeface="Calibri"/>
                <a:sym typeface="Calibri"/>
              </a:rPr>
              <a:t>ATTENZIONE: Alcune lezioni potrebbero essere spostate. In tal caso, sarà cura del docente avvisare gli studenti tramite un messaggio </a:t>
            </a:r>
            <a:r>
              <a:rPr lang="it-IT" dirty="0" err="1">
                <a:latin typeface="Calibri"/>
                <a:ea typeface="Calibri"/>
                <a:cs typeface="Calibri"/>
                <a:sym typeface="Calibri"/>
              </a:rPr>
              <a:t>Moodle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2473CA9F-3175-AC31-F377-EE9E564638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0413" y="912733"/>
            <a:ext cx="5073114" cy="30722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99AC66A4-47A4-ECBE-3EAC-DEFB58659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>
            <a:extLst>
              <a:ext uri="{FF2B5EF4-FFF2-40B4-BE49-F238E27FC236}">
                <a16:creationId xmlns:a16="http://schemas.microsoft.com/office/drawing/2014/main" id="{2DA9395F-28C5-A677-8E5D-8E53EF93C5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1520" y="137161"/>
            <a:ext cx="7290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Modalità di Esame</a:t>
            </a:r>
            <a:endParaRPr/>
          </a:p>
        </p:txBody>
      </p:sp>
      <p:sp>
        <p:nvSpPr>
          <p:cNvPr id="106" name="Google Shape;106;p16">
            <a:extLst>
              <a:ext uri="{FF2B5EF4-FFF2-40B4-BE49-F238E27FC236}">
                <a16:creationId xmlns:a16="http://schemas.microsoft.com/office/drawing/2014/main" id="{48A6617D-8995-06A5-79C5-AF33F08A4AC6}"/>
              </a:ext>
            </a:extLst>
          </p:cNvPr>
          <p:cNvSpPr txBox="1"/>
          <p:nvPr/>
        </p:nvSpPr>
        <p:spPr>
          <a:xfrm>
            <a:off x="251520" y="580199"/>
            <a:ext cx="8540430" cy="659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/>
            <a:r>
              <a:rPr lang="it" dirty="0">
                <a:latin typeface="Calibri"/>
                <a:ea typeface="Calibri"/>
                <a:cs typeface="Calibri"/>
                <a:sym typeface="Calibri"/>
              </a:rPr>
              <a:t>L’esame consiste di due parti: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469900" marR="500380" indent="-399415">
              <a:buSzPts val="1400"/>
              <a:buFont typeface="Calibri"/>
              <a:buAutoNum type="arabicPeriod"/>
            </a:pPr>
            <a:r>
              <a:rPr lang="it" dirty="0">
                <a:latin typeface="Calibri"/>
                <a:ea typeface="Calibri"/>
                <a:cs typeface="Calibri"/>
                <a:sym typeface="Calibri"/>
              </a:rPr>
              <a:t>Preparazione di un progetto e relativa (breve) relazione (50% dell’accertamento)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469900" marR="500380" lvl="0" indent="-39941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AutoNum type="arabicPeriod"/>
            </a:pPr>
            <a:r>
              <a:rPr lang="it" dirty="0">
                <a:latin typeface="Calibri"/>
                <a:ea typeface="Calibri"/>
                <a:cs typeface="Calibri"/>
                <a:sym typeface="Calibri"/>
              </a:rPr>
              <a:t>Prova orale con domande su argomenti vari di teoria e discussione del </a:t>
            </a:r>
            <a:r>
              <a:rPr lang="it">
                <a:latin typeface="Calibri"/>
                <a:ea typeface="Calibri"/>
                <a:cs typeface="Calibri"/>
                <a:sym typeface="Calibri"/>
              </a:rPr>
              <a:t>progetto </a:t>
            </a:r>
            <a:r>
              <a:rPr lang="it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(50</a:t>
            </a:r>
            <a:r>
              <a:rPr lang="it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% dell’accertamento)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01021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>
            <a:spLocks noGrp="1"/>
          </p:cNvSpPr>
          <p:nvPr>
            <p:ph type="title"/>
          </p:nvPr>
        </p:nvSpPr>
        <p:spPr>
          <a:xfrm>
            <a:off x="251520" y="137161"/>
            <a:ext cx="7290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dirty="0"/>
              <a:t>Modalità di Esame: Progetto</a:t>
            </a:r>
            <a:endParaRPr dirty="0"/>
          </a:p>
        </p:txBody>
      </p:sp>
      <p:sp>
        <p:nvSpPr>
          <p:cNvPr id="106" name="Google Shape;106;p16"/>
          <p:cNvSpPr txBox="1"/>
          <p:nvPr/>
        </p:nvSpPr>
        <p:spPr>
          <a:xfrm>
            <a:off x="122933" y="801654"/>
            <a:ext cx="8542436" cy="3632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889000" marR="5080" indent="-285750">
              <a:lnSpc>
                <a:spcPct val="115399"/>
              </a:lnSpc>
              <a:buClr>
                <a:srgbClr val="685D46"/>
              </a:buClr>
              <a:buSzPts val="1300"/>
              <a:buFont typeface="Arial" panose="020B0604020202020204" pitchFamily="34" charset="0"/>
              <a:buChar char="•"/>
            </a:pPr>
            <a:r>
              <a:rPr lang="it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Il progetto consiste nell’applicazione delle tecniche studiate durante il corso ad un dataset reperibile online e nella scrittura di una relazione. I dataset utilizzabili sono presenti sul sito della University California Irvine –  Machine Learning (UCIML):  </a:t>
            </a:r>
            <a:r>
              <a:rPr lang="it" sz="1200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https://archive.ics.uci.edu/ml/index.php</a:t>
            </a:r>
            <a:endParaRPr lang="it" sz="1200" dirty="0">
              <a:solidFill>
                <a:schemeClr val="hlink"/>
              </a:solidFill>
              <a:latin typeface="Calibri"/>
              <a:ea typeface="Calibri"/>
              <a:cs typeface="Calibri"/>
            </a:endParaRPr>
          </a:p>
          <a:p>
            <a:pPr marL="889000" indent="-285750">
              <a:spcBef>
                <a:spcPts val="240"/>
              </a:spcBef>
              <a:buClr>
                <a:srgbClr val="685D46"/>
              </a:buClr>
              <a:buSzPts val="1300"/>
              <a:buFont typeface="Arial" panose="020B0604020202020204" pitchFamily="34" charset="0"/>
              <a:buChar char="•"/>
            </a:pPr>
            <a:r>
              <a:rPr lang="it-IT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 svolgimento del progetto è </a:t>
            </a:r>
            <a:r>
              <a:rPr lang="it-IT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individuale e non si possono usare sistemi di AI</a:t>
            </a:r>
          </a:p>
          <a:p>
            <a:pPr marL="889000" marR="118110" indent="-285750">
              <a:lnSpc>
                <a:spcPct val="115399"/>
              </a:lnSpc>
              <a:buClr>
                <a:srgbClr val="685D46"/>
              </a:buClr>
              <a:buSzPts val="1300"/>
              <a:buFont typeface="Arial" panose="020B0604020202020204" pitchFamily="34" charset="0"/>
              <a:buChar char="•"/>
            </a:pPr>
            <a:r>
              <a:rPr lang="it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scelta del dataset va approvata, via e-mail, dal docente in tempo utile per l’appello che si intende sostenere (</a:t>
            </a:r>
            <a:r>
              <a:rPr lang="it" sz="12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 saranno valutati progetti non precedentemente approvati</a:t>
            </a:r>
            <a:r>
              <a:rPr lang="it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lang="it" sz="1200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889000" marR="118110" indent="-285750">
              <a:lnSpc>
                <a:spcPct val="115399"/>
              </a:lnSpc>
              <a:buClr>
                <a:srgbClr val="685D46"/>
              </a:buClr>
              <a:buSzPts val="1300"/>
              <a:buFont typeface="Arial" panose="020B0604020202020204" pitchFamily="34" charset="0"/>
              <a:buChar char="•"/>
            </a:pPr>
            <a:r>
              <a:rPr lang="it-IT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it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 codice deve essere scritto in Python e deve essere </a:t>
            </a:r>
            <a:r>
              <a:rPr lang="it" sz="1200" dirty="0">
                <a:latin typeface="Calibri"/>
                <a:ea typeface="Calibri"/>
                <a:cs typeface="Calibri"/>
                <a:sym typeface="Calibri"/>
              </a:rPr>
              <a:t>consegnato (per email)</a:t>
            </a:r>
            <a:r>
              <a:rPr lang="it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contestualmente con la relazione (uno o più file .py per il codice e un file .pdf per la relazione)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89000" marR="82550" indent="-285750">
              <a:lnSpc>
                <a:spcPct val="115399"/>
              </a:lnSpc>
              <a:buClr>
                <a:srgbClr val="685D46"/>
              </a:buClr>
              <a:buSzPts val="1300"/>
              <a:buFont typeface="Arial" panose="020B0604020202020204" pitchFamily="34" charset="0"/>
              <a:buChar char="•"/>
            </a:pPr>
            <a:r>
              <a:rPr lang="it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Approssimativamente, il carico di lavoro per il progetto è all’incirca una settimana</a:t>
            </a:r>
          </a:p>
          <a:p>
            <a:pPr marL="889000" marR="82550" indent="-285750">
              <a:lnSpc>
                <a:spcPct val="115399"/>
              </a:lnSpc>
              <a:buClr>
                <a:srgbClr val="685D46"/>
              </a:buClr>
              <a:buSzPts val="1300"/>
              <a:buFont typeface="Arial" panose="020B0604020202020204" pitchFamily="34" charset="0"/>
              <a:buChar char="•"/>
            </a:pPr>
            <a:r>
              <a:rPr lang="it-IT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it" sz="1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egole</a:t>
            </a:r>
            <a:r>
              <a:rPr lang="it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più dettagliate verranno fornite alla fine del corso (v. slide dal titolo "Linee guida per l'esame")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500380" lvl="0" indent="0" algn="l" rtl="0">
              <a:lnSpc>
                <a:spcPct val="100000"/>
              </a:lnSpc>
              <a:spcBef>
                <a:spcPts val="1575"/>
              </a:spcBef>
              <a:spcAft>
                <a:spcPts val="0"/>
              </a:spcAft>
              <a:buNone/>
            </a:pPr>
            <a:r>
              <a:rPr lang="it" sz="1200" dirty="0">
                <a:latin typeface="Calibri"/>
                <a:ea typeface="Calibri"/>
                <a:cs typeface="Calibri"/>
                <a:sym typeface="Calibri"/>
              </a:rPr>
              <a:t>Note:</a:t>
            </a:r>
            <a:endParaRPr sz="1200"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50038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-"/>
            </a:pPr>
            <a:r>
              <a:rPr lang="it" sz="1200" dirty="0">
                <a:latin typeface="Calibri"/>
                <a:ea typeface="Calibri"/>
                <a:cs typeface="Calibri"/>
                <a:sym typeface="Calibri"/>
              </a:rPr>
              <a:t>Il dataset non può provenire da altre fonti (e.g., tesi, altri corsi, ...)</a:t>
            </a:r>
          </a:p>
          <a:p>
            <a:pPr marL="457200" marR="50038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-"/>
            </a:pPr>
            <a:r>
              <a:rPr lang="it-IT" sz="1200" dirty="0"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it" sz="1200" dirty="0">
                <a:latin typeface="Calibri"/>
                <a:ea typeface="Calibri"/>
                <a:cs typeface="Calibri"/>
                <a:sym typeface="Calibri"/>
              </a:rPr>
              <a:t>on si possono usare i dataset utilizzati negli esercizi visti durante il corso</a:t>
            </a:r>
            <a:endParaRPr sz="1200"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500380" indent="-317500">
              <a:buSzPts val="1400"/>
              <a:buFont typeface="Calibri"/>
              <a:buChar char="-"/>
            </a:pPr>
            <a:r>
              <a:rPr lang="it" sz="1200" dirty="0">
                <a:latin typeface="Calibri"/>
                <a:ea typeface="Calibri"/>
                <a:cs typeface="Calibri"/>
                <a:sym typeface="Calibri"/>
              </a:rPr>
              <a:t>Una volta che un dataset viene scelto da uno studente, dovranno passare almeno sei appelli d’esame prima che torni disponibile.</a:t>
            </a:r>
          </a:p>
          <a:p>
            <a:pPr marL="457200" marR="500380" indent="-317500">
              <a:buSzPts val="1400"/>
              <a:buFont typeface="Calibri"/>
              <a:buChar char="-"/>
            </a:pPr>
            <a:r>
              <a:rPr lang="it" sz="1200" i="1" dirty="0">
                <a:latin typeface="Calibri"/>
                <a:ea typeface="Calibri"/>
                <a:cs typeface="Calibri"/>
                <a:sym typeface="Calibri"/>
              </a:rPr>
              <a:t>Una volta consegnato il progetto</a:t>
            </a:r>
            <a:r>
              <a:rPr lang="it" sz="1200" dirty="0">
                <a:latin typeface="Calibri"/>
                <a:ea typeface="Calibri"/>
                <a:cs typeface="Calibri"/>
                <a:sym typeface="Calibri"/>
              </a:rPr>
              <a:t>, in caso l’esame risultasse insufficiente o se lo studente dovesse rifiutare il voto, per il prossimo appello si dovrà preparare un altro progetto su un dataset diverso</a:t>
            </a:r>
          </a:p>
        </p:txBody>
      </p:sp>
    </p:spTree>
    <p:extLst>
      <p:ext uri="{BB962C8B-B14F-4D97-AF65-F5344CB8AC3E}">
        <p14:creationId xmlns:p14="http://schemas.microsoft.com/office/powerpoint/2010/main" val="2754132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>
            <a:spLocks noGrp="1"/>
          </p:cNvSpPr>
          <p:nvPr>
            <p:ph type="title"/>
          </p:nvPr>
        </p:nvSpPr>
        <p:spPr>
          <a:xfrm>
            <a:off x="251520" y="137161"/>
            <a:ext cx="7290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dirty="0"/>
              <a:t>Modalità di Esame: Orale</a:t>
            </a:r>
            <a:endParaRPr dirty="0"/>
          </a:p>
        </p:txBody>
      </p:sp>
      <p:sp>
        <p:nvSpPr>
          <p:cNvPr id="106" name="Google Shape;106;p16"/>
          <p:cNvSpPr txBox="1"/>
          <p:nvPr/>
        </p:nvSpPr>
        <p:spPr>
          <a:xfrm>
            <a:off x="198512" y="1176434"/>
            <a:ext cx="8121976" cy="1714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889000" marR="5080" indent="-285750">
              <a:lnSpc>
                <a:spcPct val="115399"/>
              </a:lnSpc>
              <a:buClr>
                <a:srgbClr val="685D46"/>
              </a:buClr>
              <a:buSzPts val="1300"/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 </a:t>
            </a:r>
            <a:r>
              <a:rPr lang="en-GB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scopo</a:t>
            </a:r>
            <a:r>
              <a:rPr lang="en-GB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dell’orale</a:t>
            </a:r>
            <a:r>
              <a:rPr lang="en-GB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è </a:t>
            </a:r>
            <a:r>
              <a:rPr lang="en-GB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accertarsi</a:t>
            </a:r>
            <a:r>
              <a:rPr lang="en-GB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</a:t>
            </a:r>
            <a:r>
              <a:rPr lang="en-GB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lo </a:t>
            </a:r>
            <a:r>
              <a:rPr lang="en-GB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studente</a:t>
            </a:r>
            <a:r>
              <a:rPr lang="en-GB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abbia</a:t>
            </a:r>
            <a:r>
              <a:rPr lang="en-GB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capito</a:t>
            </a:r>
            <a:r>
              <a:rPr lang="en-GB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GB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concetti</a:t>
            </a:r>
            <a:r>
              <a:rPr lang="en-GB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visti</a:t>
            </a:r>
            <a:r>
              <a:rPr lang="en-GB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en-GB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lezione</a:t>
            </a:r>
            <a:endParaRPr lang="en-GB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89000" marR="5080" indent="-285750">
              <a:lnSpc>
                <a:spcPct val="115399"/>
              </a:lnSpc>
              <a:buClr>
                <a:srgbClr val="685D46"/>
              </a:buClr>
              <a:buSzPts val="1300"/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 </a:t>
            </a:r>
            <a:r>
              <a:rPr lang="en-GB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verranno</a:t>
            </a:r>
            <a:r>
              <a:rPr lang="en-GB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chieste</a:t>
            </a:r>
            <a:r>
              <a:rPr lang="en-GB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formule</a:t>
            </a:r>
            <a:r>
              <a:rPr lang="en-GB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di </a:t>
            </a:r>
            <a:r>
              <a:rPr lang="en-GB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nessun</a:t>
            </a:r>
            <a:r>
              <a:rPr lang="en-GB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genere</a:t>
            </a:r>
            <a:r>
              <a:rPr lang="en-GB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! Per cui, non è </a:t>
            </a:r>
            <a:r>
              <a:rPr lang="en-GB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necessario</a:t>
            </a:r>
            <a:r>
              <a:rPr lang="en-GB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imparare</a:t>
            </a:r>
            <a:r>
              <a:rPr lang="en-GB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formule</a:t>
            </a:r>
            <a:r>
              <a:rPr lang="en-GB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 </a:t>
            </a:r>
            <a:r>
              <a:rPr lang="en-GB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dimostrazioni</a:t>
            </a:r>
            <a:r>
              <a:rPr lang="en-GB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memoria </a:t>
            </a:r>
            <a:endParaRPr lang="en-GB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889000" marR="5080" indent="-285750">
              <a:lnSpc>
                <a:spcPct val="115399"/>
              </a:lnSpc>
              <a:buClr>
                <a:srgbClr val="685D46"/>
              </a:buClr>
              <a:buSzPts val="1300"/>
              <a:buFont typeface="Arial" panose="020B0604020202020204" pitchFamily="34" charset="0"/>
              <a:buChar char="•"/>
            </a:pPr>
            <a:r>
              <a:rPr lang="en-GB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Piuttosto</a:t>
            </a:r>
            <a:r>
              <a:rPr lang="en-GB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è </a:t>
            </a:r>
            <a:r>
              <a:rPr lang="en-GB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importante</a:t>
            </a:r>
            <a:r>
              <a:rPr lang="en-GB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cercare</a:t>
            </a:r>
            <a:r>
              <a:rPr lang="en-GB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di </a:t>
            </a:r>
            <a:r>
              <a:rPr lang="en-GB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capire</a:t>
            </a:r>
            <a:r>
              <a:rPr lang="en-GB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GB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</a:t>
            </a:r>
            <a:r>
              <a:rPr lang="en-GB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argomenti</a:t>
            </a:r>
            <a:r>
              <a:rPr lang="en-GB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GB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uno studio </a:t>
            </a:r>
            <a:r>
              <a:rPr lang="en-GB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puramente</a:t>
            </a:r>
            <a:r>
              <a:rPr lang="en-GB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mnemonico</a:t>
            </a:r>
            <a:r>
              <a:rPr lang="en-GB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è inutile</a:t>
            </a:r>
            <a:r>
              <a:rPr lang="en-GB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sia</a:t>
            </a:r>
            <a:r>
              <a:rPr lang="en-GB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al fine del </a:t>
            </a:r>
            <a:r>
              <a:rPr lang="en-GB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superamento</a:t>
            </a:r>
            <a:r>
              <a:rPr lang="en-GB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dell’esame</a:t>
            </a:r>
            <a:r>
              <a:rPr lang="en-GB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sia</a:t>
            </a:r>
            <a:r>
              <a:rPr lang="en-GB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e </a:t>
            </a:r>
            <a:r>
              <a:rPr lang="en-GB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soprattutto</a:t>
            </a:r>
            <a:r>
              <a:rPr lang="en-GB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dal vostro punto di vista (</a:t>
            </a:r>
            <a:r>
              <a:rPr lang="en-GB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lavorativo</a:t>
            </a:r>
            <a:r>
              <a:rPr lang="en-GB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GB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culturale</a:t>
            </a:r>
            <a:r>
              <a:rPr lang="en-GB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06278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Essenziale">
  <a:themeElements>
    <a:clrScheme name="Personalizzato 2">
      <a:dk1>
        <a:srgbClr val="000000"/>
      </a:dk1>
      <a:lt1>
        <a:srgbClr val="FFFFFF"/>
      </a:lt1>
      <a:dk2>
        <a:srgbClr val="C0504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C0504D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728</Words>
  <Application>Microsoft Office PowerPoint</Application>
  <PresentationFormat>Presentazione su schermo (16:9)</PresentationFormat>
  <Paragraphs>55</Paragraphs>
  <Slides>11</Slides>
  <Notes>11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11</vt:i4>
      </vt:variant>
    </vt:vector>
  </HeadingPairs>
  <TitlesOfParts>
    <vt:vector size="14" baseType="lpstr">
      <vt:lpstr>Calibri</vt:lpstr>
      <vt:lpstr>Arial</vt:lpstr>
      <vt:lpstr>Essenziale</vt:lpstr>
      <vt:lpstr>Presentazione Corso Enver Sangineto </vt:lpstr>
      <vt:lpstr>Informazioni sul corso</vt:lpstr>
      <vt:lpstr>Docente</vt:lpstr>
      <vt:lpstr>Piazzamento</vt:lpstr>
      <vt:lpstr>Testi di riferimento</vt:lpstr>
      <vt:lpstr>Risorse per la programmazione</vt:lpstr>
      <vt:lpstr>Risorse Online</vt:lpstr>
      <vt:lpstr>Calendario delle lezioni</vt:lpstr>
      <vt:lpstr>Modalità di Esame</vt:lpstr>
      <vt:lpstr>Modalità di Esame: Progetto</vt:lpstr>
      <vt:lpstr>Modalità di Esame: Orale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FONDAMENTI DI MACHINE LEARNING Introduzione - </dc:title>
  <cp:lastModifiedBy>Enver SANGINETO</cp:lastModifiedBy>
  <cp:revision>1555</cp:revision>
  <dcterms:modified xsi:type="dcterms:W3CDTF">2026-02-22T10:03:40Z</dcterms:modified>
</cp:coreProperties>
</file>